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00DC9E6-BF26-5BA9-C6B0-FD2C5C117508}">
          <p14:sldIdLst>
            <p14:sldId id="256"/>
            <p14:sldId id="257"/>
          </p14:sldIdLst>
        </p14:section>
        <p14:section name="Design" id="{FC5E9B00-AA3A-B671-7DE5-DD2E5AB5A1A3}">
          <p14:sldIdLst>
            <p14:sldId id="258"/>
            <p14:sldId id="259"/>
          </p14:sldIdLst>
        </p14:section>
        <p14:section name="Results" id="{13E44B10-6E2B-8FFE-5442-A8499504DF53}">
          <p14:sldIdLst>
            <p14:sldId id="260"/>
            <p14:sldId id="261"/>
            <p14:sldId id="262"/>
            <p14:sldId id="263"/>
            <p14:sldId id="264"/>
          </p14:sldIdLst>
        </p14:section>
        <p14:section name="Discussion" id="{CB0AF0E1-CFF0-2322-0CE5-3996BEAEA458}">
          <p14:sldIdLst>
            <p14:sldId id="265"/>
            <p14:sldId id="266"/>
          </p14:sldIdLst>
        </p14:section>
        <p14:section name="Conclusion" id="{146A37F1-BF55-8183-56B3-67C9AEC5619D}">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9661" autoAdjust="0"/>
  </p:normalViewPr>
  <p:slideViewPr>
    <p:cSldViewPr snapToGrid="0" snapToObjects="1">
      <p:cViewPr varScale="1">
        <p:scale>
          <a:sx n="65" d="100"/>
          <a:sy n="65" d="100"/>
        </p:scale>
        <p:origin x="133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232F3E"/>
                </a:solidFill>
                <a:latin typeface="+mj-lt"/>
              </a:defRPr>
            </a:pPr>
            <a:r>
              <a:rPr lang="en-US" sz="1500" b="0" i="0" u="none" strike="noStrike">
                <a:solidFill>
                  <a:srgbClr val="232F3E"/>
                </a:solidFill>
                <a:latin typeface="+mj-lt"/>
              </a:rPr>
              <a:t>Mean cold start via the API, 3 runs each (ms)</a:t>
            </a:r>
          </a:p>
        </c:rich>
      </c:tx>
      <c:overlay val="0"/>
    </c:title>
    <c:autoTitleDeleted val="0"/>
    <c:plotArea>
      <c:layout/>
      <c:barChart>
        <c:barDir val="col"/>
        <c:grouping val="clustered"/>
        <c:varyColors val="0"/>
        <c:ser>
          <c:idx val="0"/>
          <c:order val="0"/>
          <c:tx>
            <c:strRef>
              <c:f>Sheet1!$B$1</c:f>
              <c:strCache>
                <c:ptCount val="1"/>
                <c:pt idx="0">
                  <c:v>Mean cold start (ms)</c:v>
                </c:pt>
              </c:strCache>
            </c:strRef>
          </c:tx>
          <c:spPr>
            <a:solidFill>
              <a:srgbClr val="6B7280"/>
            </a:solidFill>
            <a:effectLst/>
          </c:spPr>
          <c:invertIfNegative val="0"/>
          <c:dPt>
            <c:idx val="0"/>
            <c:invertIfNegative val="0"/>
            <c:bubble3D val="0"/>
            <c:extLst>
              <c:ext xmlns:c16="http://schemas.microsoft.com/office/drawing/2014/chart" uri="{C3380CC4-5D6E-409C-BE32-E72D297353CC}">
                <c16:uniqueId val="{00000001-46F4-4511-8628-BB075CF579F2}"/>
              </c:ext>
            </c:extLst>
          </c:dPt>
          <c:dPt>
            <c:idx val="1"/>
            <c:invertIfNegative val="0"/>
            <c:bubble3D val="0"/>
            <c:spPr>
              <a:solidFill>
                <a:srgbClr val="C62828"/>
              </a:solidFill>
              <a:effectLst/>
            </c:spPr>
            <c:extLst>
              <c:ext xmlns:c16="http://schemas.microsoft.com/office/drawing/2014/chart" uri="{C3380CC4-5D6E-409C-BE32-E72D297353CC}">
                <c16:uniqueId val="{00000003-46F4-4511-8628-BB075CF579F2}"/>
              </c:ext>
            </c:extLst>
          </c:dPt>
          <c:dPt>
            <c:idx val="2"/>
            <c:invertIfNegative val="0"/>
            <c:bubble3D val="0"/>
            <c:spPr>
              <a:solidFill>
                <a:srgbClr val="E8710A"/>
              </a:solidFill>
              <a:effectLst/>
            </c:spPr>
            <c:extLst>
              <c:ext xmlns:c16="http://schemas.microsoft.com/office/drawing/2014/chart" uri="{C3380CC4-5D6E-409C-BE32-E72D297353CC}">
                <c16:uniqueId val="{00000005-46F4-4511-8628-BB075CF579F2}"/>
              </c:ext>
            </c:extLst>
          </c:dPt>
          <c:dLbls>
            <c:numFmt formatCode="#,##0" sourceLinked="0"/>
            <c:spPr>
              <a:noFill/>
              <a:ln>
                <a:noFill/>
              </a:ln>
              <a:effectLst/>
            </c:spPr>
            <c:txPr>
              <a:bodyPr/>
              <a:lstStyle/>
              <a:p>
                <a:pPr>
                  <a:defRPr sz="1400" b="0" i="0" u="none" strike="noStrike">
                    <a:solidFill>
                      <a:srgbClr val="1F29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v1 eager</c:v>
                </c:pt>
                <c:pt idx="1">
                  <c:v>v2 lazy</c:v>
                </c:pt>
                <c:pt idx="2">
                  <c:v>v2 eager (final)</c:v>
                </c:pt>
              </c:strCache>
            </c:strRef>
          </c:cat>
          <c:val>
            <c:numRef>
              <c:f>Sheet1!$B$2:$B$4</c:f>
              <c:numCache>
                <c:formatCode>General</c:formatCode>
                <c:ptCount val="3"/>
                <c:pt idx="0">
                  <c:v>6983</c:v>
                </c:pt>
                <c:pt idx="1">
                  <c:v>8381</c:v>
                </c:pt>
                <c:pt idx="2">
                  <c:v>7103</c:v>
                </c:pt>
              </c:numCache>
            </c:numRef>
          </c:val>
          <c:extLst>
            <c:ext xmlns:c16="http://schemas.microsoft.com/office/drawing/2014/chart" uri="{C3380CC4-5D6E-409C-BE32-E72D297353CC}">
              <c16:uniqueId val="{00000006-46F4-4511-8628-BB075CF579F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lblOffset val="100"/>
        <c:noMultiLvlLbl val="1"/>
      </c:catAx>
      <c:valAx>
        <c:axId val="2094734552"/>
        <c:scaling>
          <c:orientation val="minMax"/>
          <c:max val="100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majorUnit val="200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232F3E"/>
                </a:solidFill>
                <a:latin typeface="+mj-lt"/>
              </a:defRPr>
            </a:pPr>
            <a:r>
              <a:rPr lang="en-US" sz="1500" b="0" i="0" u="none" strike="noStrike">
                <a:solidFill>
                  <a:srgbClr val="232F3E"/>
                </a:solidFill>
                <a:latin typeface="+mj-lt"/>
              </a:rPr>
              <a:t>Latency by Lambda memory size (ms, 10 warm requests each)</a:t>
            </a:r>
          </a:p>
        </c:rich>
      </c:tx>
      <c:overlay val="0"/>
    </c:title>
    <c:autoTitleDeleted val="0"/>
    <c:plotArea>
      <c:layout/>
      <c:barChart>
        <c:barDir val="col"/>
        <c:grouping val="clustered"/>
        <c:varyColors val="0"/>
        <c:ser>
          <c:idx val="0"/>
          <c:order val="0"/>
          <c:tx>
            <c:strRef>
              <c:f>Sheet1!$B$1</c:f>
              <c:strCache>
                <c:ptCount val="1"/>
                <c:pt idx="0">
                  <c:v>Warm request (ms)</c:v>
                </c:pt>
              </c:strCache>
            </c:strRef>
          </c:tx>
          <c:spPr>
            <a:solidFill>
              <a:srgbClr val="E8710A"/>
            </a:solidFill>
            <a:effectLst/>
          </c:spPr>
          <c:invertIfNegative val="0"/>
          <c:dLbls>
            <c:numFmt formatCode="#,##0" sourceLinked="0"/>
            <c:spPr>
              <a:noFill/>
              <a:ln>
                <a:noFill/>
              </a:ln>
              <a:effectLst/>
            </c:spPr>
            <c:txPr>
              <a:bodyPr/>
              <a:lstStyle/>
              <a:p>
                <a:pPr>
                  <a:defRPr sz="1300" b="0" i="0" u="none" strike="noStrike">
                    <a:solidFill>
                      <a:srgbClr val="1F29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1024 MB</c:v>
                </c:pt>
                <c:pt idx="1">
                  <c:v>2048 MB</c:v>
                </c:pt>
                <c:pt idx="2">
                  <c:v>3008 MB</c:v>
                </c:pt>
              </c:strCache>
            </c:strRef>
          </c:cat>
          <c:val>
            <c:numRef>
              <c:f>Sheet1!$B$2:$B$4</c:f>
              <c:numCache>
                <c:formatCode>General</c:formatCode>
                <c:ptCount val="3"/>
                <c:pt idx="0">
                  <c:v>891</c:v>
                </c:pt>
                <c:pt idx="1">
                  <c:v>504</c:v>
                </c:pt>
                <c:pt idx="2">
                  <c:v>398</c:v>
                </c:pt>
              </c:numCache>
            </c:numRef>
          </c:val>
          <c:extLst>
            <c:ext xmlns:c16="http://schemas.microsoft.com/office/drawing/2014/chart" uri="{C3380CC4-5D6E-409C-BE32-E72D297353CC}">
              <c16:uniqueId val="{00000000-C91D-488E-A391-E16C114FCEC9}"/>
            </c:ext>
          </c:extLst>
        </c:ser>
        <c:ser>
          <c:idx val="1"/>
          <c:order val="1"/>
          <c:tx>
            <c:strRef>
              <c:f>Sheet1!$C$1</c:f>
              <c:strCache>
                <c:ptCount val="1"/>
                <c:pt idx="0">
                  <c:v>Inference (ms)</c:v>
                </c:pt>
              </c:strCache>
            </c:strRef>
          </c:tx>
          <c:spPr>
            <a:solidFill>
              <a:srgbClr val="232F3E"/>
            </a:solidFill>
            <a:effectLst/>
          </c:spPr>
          <c:invertIfNegative val="0"/>
          <c:dLbls>
            <c:numFmt formatCode="#,##0" sourceLinked="0"/>
            <c:spPr>
              <a:noFill/>
              <a:ln>
                <a:noFill/>
              </a:ln>
              <a:effectLst/>
            </c:spPr>
            <c:txPr>
              <a:bodyPr/>
              <a:lstStyle/>
              <a:p>
                <a:pPr>
                  <a:defRPr sz="1300" b="0" i="0" u="none" strike="noStrike">
                    <a:solidFill>
                      <a:srgbClr val="1F293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1024 MB</c:v>
                </c:pt>
                <c:pt idx="1">
                  <c:v>2048 MB</c:v>
                </c:pt>
                <c:pt idx="2">
                  <c:v>3008 MB</c:v>
                </c:pt>
              </c:strCache>
            </c:strRef>
          </c:cat>
          <c:val>
            <c:numRef>
              <c:f>Sheet1!$C$2:$C$4</c:f>
              <c:numCache>
                <c:formatCode>General</c:formatCode>
                <c:ptCount val="3"/>
                <c:pt idx="0">
                  <c:v>617</c:v>
                </c:pt>
                <c:pt idx="1">
                  <c:v>280</c:v>
                </c:pt>
                <c:pt idx="2">
                  <c:v>185</c:v>
                </c:pt>
              </c:numCache>
            </c:numRef>
          </c:val>
          <c:extLst>
            <c:ext xmlns:c16="http://schemas.microsoft.com/office/drawing/2014/chart" uri="{C3380CC4-5D6E-409C-BE32-E72D297353CC}">
              <c16:uniqueId val="{00000001-C91D-488E-A391-E16C114FCEC9}"/>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lblOffset val="100"/>
        <c:noMultiLvlLbl val="1"/>
      </c:catAx>
      <c:valAx>
        <c:axId val="2094734552"/>
        <c:scaling>
          <c:orientation val="minMax"/>
          <c:max val="10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majorUnit val="200"/>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7337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28800"/>
            <a:ext cx="7498080" cy="17373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640080" y="3703320"/>
            <a:ext cx="7498080" cy="822960"/>
          </a:xfrm>
          <a:prstGeom prst="rect">
            <a:avLst/>
          </a:prstGeom>
          <a:noFill/>
          <a:ln/>
        </p:spPr>
        <p:txBody>
          <a:bodyPr wrap="square" rtlCol="0"/>
          <a:lstStyle>
            <a:lvl1pPr marL="0" indent="0" algn="l">
              <a:buNone/>
              <a:defRPr lang="en-US" sz="2000" dirty="0">
                <a:solidFill>
                  <a:srgbClr val="FFB066"/>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ICT5205 Assessment 2  |  Sirous Namjoo  |  240344</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28800"/>
            <a:ext cx="7498080" cy="1737360"/>
          </a:xfrm>
          <a:prstGeom prst="rect">
            <a:avLst/>
          </a:prstGeom>
          <a:noFill/>
          <a:ln/>
        </p:spPr>
        <p:txBody>
          <a:bodyPr wrap="square" lIns="0" tIns="0" rIns="0" bIns="0" rtlCol="0" anchor="t"/>
          <a:lstStyle/>
          <a:p>
            <a:pPr marL="0" indent="0" algn="l">
              <a:buNone/>
            </a:pPr>
            <a:r>
              <a:rPr lang="en-US" sz="4000" b="1" dirty="0">
                <a:solidFill>
                  <a:schemeClr val="bg1"/>
                </a:solidFill>
              </a:rPr>
              <a:t>Image Object Identification on AWS with YOLOv5</a:t>
            </a:r>
            <a:endParaRPr lang="en-US" sz="4000" dirty="0"/>
          </a:p>
        </p:txBody>
      </p:sp>
      <p:sp>
        <p:nvSpPr>
          <p:cNvPr id="3" name="Text 0"/>
          <p:cNvSpPr>
            <a:spLocks noGrp="1"/>
          </p:cNvSpPr>
          <p:nvPr>
            <p:ph type="body" idx="101" hasCustomPrompt="1"/>
          </p:nvPr>
        </p:nvSpPr>
        <p:spPr>
          <a:xfrm>
            <a:off x="640080" y="3703320"/>
            <a:ext cx="7498080" cy="822960"/>
          </a:xfrm>
          <a:prstGeom prst="rect">
            <a:avLst/>
          </a:prstGeom>
          <a:noFill/>
          <a:ln/>
        </p:spPr>
        <p:txBody>
          <a:bodyPr wrap="square" lIns="0" tIns="0" rIns="0" bIns="0" rtlCol="0" anchor="t"/>
          <a:lstStyle/>
          <a:p>
            <a:pPr marL="0" indent="0" algn="l">
              <a:buNone/>
            </a:pPr>
            <a:r>
              <a:rPr lang="en-US" sz="2000" dirty="0">
                <a:solidFill>
                  <a:srgbClr val="FFB066"/>
                </a:solidFill>
              </a:rPr>
              <a:t>Serverless: Lambda container image, API Gateway, S3 and DynamoDB</a:t>
            </a:r>
            <a:endParaRPr lang="en-US" sz="2000" dirty="0"/>
          </a:p>
        </p:txBody>
      </p:sp>
      <p:sp>
        <p:nvSpPr>
          <p:cNvPr id="4" name="Text 2"/>
          <p:cNvSpPr txBox="1"/>
          <p:nvPr/>
        </p:nvSpPr>
        <p:spPr>
          <a:xfrm>
            <a:off x="640080" y="4846320"/>
            <a:ext cx="7315200" cy="1097280"/>
          </a:xfrm>
          <a:prstGeom prst="rect">
            <a:avLst/>
          </a:prstGeom>
          <a:noFill/>
          <a:ln/>
        </p:spPr>
        <p:txBody>
          <a:bodyPr wrap="square" lIns="0" tIns="0" rIns="0" bIns="0" rtlCol="0" anchor="t"/>
          <a:lstStyle/>
          <a:p>
            <a:pPr marL="0" indent="0">
              <a:spcAft>
                <a:spcPts val="400"/>
              </a:spcAft>
              <a:buNone/>
            </a:pPr>
            <a:r>
              <a:rPr lang="en-US" sz="1600" b="1" dirty="0">
                <a:solidFill>
                  <a:schemeClr val="bg1"/>
                </a:solidFill>
              </a:rPr>
              <a:t>Sirous Namjoo  |  Student 240344</a:t>
            </a:r>
            <a:endParaRPr lang="en-US" sz="1600" dirty="0"/>
          </a:p>
          <a:p>
            <a:pPr marL="0" indent="0">
              <a:spcAft>
                <a:spcPts val="400"/>
              </a:spcAft>
              <a:buNone/>
            </a:pPr>
            <a:r>
              <a:rPr lang="en-US" sz="1600" dirty="0">
                <a:solidFill>
                  <a:schemeClr val="bg1"/>
                </a:solidFill>
              </a:rPr>
              <a:t>ICT5205 Cloud Computing, Assessment 2</a:t>
            </a:r>
            <a:endParaRPr lang="en-US" sz="1600" dirty="0"/>
          </a:p>
          <a:p>
            <a:pPr marL="0" indent="0">
              <a:spcAft>
                <a:spcPts val="400"/>
              </a:spcAft>
              <a:buNone/>
            </a:pPr>
            <a:r>
              <a:rPr lang="en-US" sz="1600" dirty="0">
                <a:solidFill>
                  <a:schemeClr val="bg1"/>
                </a:solidFill>
              </a:rPr>
              <a:t>github.com/CyrusNamjoo/ict5205-yolov5-aws-serverless</a:t>
            </a:r>
            <a:endParaRPr lang="en-US" sz="1600" dirty="0"/>
          </a:p>
        </p:txBody>
      </p:sp>
      <p:pic>
        <p:nvPicPr>
          <p:cNvPr id="5" name="4-2-annotated.png" descr="Annotated airplane detected by the Lambda function"/>
          <p:cNvPicPr>
            <a:picLocks noChangeAspect="1"/>
          </p:cNvPicPr>
          <p:nvPr/>
        </p:nvPicPr>
        <p:blipFill>
          <a:blip r:embed="rId3"/>
          <a:stretch>
            <a:fillRect/>
          </a:stretch>
        </p:blipFill>
        <p:spPr>
          <a:xfrm>
            <a:off x="8321040" y="2350161"/>
            <a:ext cx="3383280" cy="2157678"/>
          </a:xfrm>
          <a:prstGeom prst="rect">
            <a:avLst/>
          </a:prstGeom>
          <a:effectLst>
            <a:outerShdw blurRad="76200" dist="25400" dir="5400000" algn="bl" rotWithShape="0">
              <a:srgbClr val="000000">
                <a:alpha val="18000"/>
              </a:srgbClr>
            </a:outerShdw>
          </a:effectLst>
        </p:spPr>
      </p:pic>
      <p:sp>
        <p:nvSpPr>
          <p:cNvPr id="6" name="Text 3"/>
          <p:cNvSpPr txBox="1"/>
          <p:nvPr/>
        </p:nvSpPr>
        <p:spPr>
          <a:xfrm>
            <a:off x="8321040" y="5440680"/>
            <a:ext cx="3383280" cy="274320"/>
          </a:xfrm>
          <a:prstGeom prst="rect">
            <a:avLst/>
          </a:prstGeom>
          <a:noFill/>
          <a:ln/>
        </p:spPr>
        <p:txBody>
          <a:bodyPr wrap="square" lIns="0" tIns="0" rIns="0" bIns="0" rtlCol="0" anchor="t"/>
          <a:lstStyle/>
          <a:p>
            <a:pPr marL="0" indent="0" algn="ctr">
              <a:buNone/>
            </a:pPr>
            <a:r>
              <a:rPr lang="en-US" sz="1200" dirty="0">
                <a:solidFill>
                  <a:srgbClr val="C9D1DB"/>
                </a:solidFill>
              </a:rPr>
              <a:t>Real output of my Lambda function</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2000" advTm="40503"/>
    </mc:Choice>
    <mc:Fallback xmlns="">
      <p:transition spd="slow" advTm="4050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What I wanted to build and why it is not easy</a:t>
            </a:r>
            <a:endParaRPr lang="en-US" sz="3200" dirty="0"/>
          </a:p>
        </p:txBody>
      </p:sp>
      <p:sp>
        <p:nvSpPr>
          <p:cNvPr id="3" name="icon-circle"/>
          <p:cNvSpPr/>
          <p:nvPr/>
        </p:nvSpPr>
        <p:spPr>
          <a:xfrm>
            <a:off x="548640" y="137160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4" name="icon" descr="preencoded.png"/>
          <p:cNvPicPr>
            <a:picLocks noChangeAspect="1"/>
          </p:cNvPicPr>
          <p:nvPr/>
        </p:nvPicPr>
        <p:blipFill>
          <a:blip r:embed="rId3"/>
          <a:stretch>
            <a:fillRect/>
          </a:stretch>
        </p:blipFill>
        <p:spPr>
          <a:xfrm>
            <a:off x="724205" y="1547165"/>
            <a:ext cx="380390" cy="380390"/>
          </a:xfrm>
          <a:prstGeom prst="rect">
            <a:avLst/>
          </a:prstGeom>
        </p:spPr>
      </p:pic>
      <p:sp>
        <p:nvSpPr>
          <p:cNvPr id="5" name="Text 2"/>
          <p:cNvSpPr txBox="1"/>
          <p:nvPr/>
        </p:nvSpPr>
        <p:spPr>
          <a:xfrm>
            <a:off x="1508760" y="1353312"/>
            <a:ext cx="5852160" cy="365760"/>
          </a:xfrm>
          <a:prstGeom prst="rect">
            <a:avLst/>
          </a:prstGeom>
          <a:noFill/>
          <a:ln/>
        </p:spPr>
        <p:txBody>
          <a:bodyPr wrap="square" lIns="0" tIns="0" rIns="0" bIns="0" rtlCol="0" anchor="t"/>
          <a:lstStyle/>
          <a:p>
            <a:pPr marL="0" indent="0">
              <a:buNone/>
            </a:pPr>
            <a:r>
              <a:rPr lang="en-US" sz="1800" b="1" dirty="0">
                <a:solidFill>
                  <a:schemeClr val="tx2"/>
                </a:solidFill>
              </a:rPr>
              <a:t>Run a real deep learning model in Lambda</a:t>
            </a:r>
            <a:endParaRPr lang="en-US" sz="1800" dirty="0"/>
          </a:p>
        </p:txBody>
      </p:sp>
      <p:sp>
        <p:nvSpPr>
          <p:cNvPr id="6" name="Text 3"/>
          <p:cNvSpPr txBox="1"/>
          <p:nvPr/>
        </p:nvSpPr>
        <p:spPr>
          <a:xfrm>
            <a:off x="1508760" y="1737360"/>
            <a:ext cx="5852160" cy="685800"/>
          </a:xfrm>
          <a:prstGeom prst="rect">
            <a:avLst/>
          </a:prstGeom>
          <a:noFill/>
          <a:ln/>
        </p:spPr>
        <p:txBody>
          <a:bodyPr wrap="square" lIns="0" tIns="0" rIns="0" bIns="0" rtlCol="0" anchor="t"/>
          <a:lstStyle/>
          <a:p>
            <a:pPr marL="0" indent="0">
              <a:buNone/>
            </a:pPr>
            <a:r>
              <a:rPr lang="en-US" sz="1400" dirty="0">
                <a:solidFill>
                  <a:schemeClr val="tx1"/>
                </a:solidFill>
              </a:rPr>
              <a:t>YOLOv5s with PyTorch. PyTorch alone is bigger than the 250 MB limit of a Lambda zip package.</a:t>
            </a:r>
            <a:endParaRPr lang="en-US" sz="1400" dirty="0"/>
          </a:p>
        </p:txBody>
      </p:sp>
      <p:sp>
        <p:nvSpPr>
          <p:cNvPr id="7" name="icon-circle"/>
          <p:cNvSpPr/>
          <p:nvPr/>
        </p:nvSpPr>
        <p:spPr>
          <a:xfrm>
            <a:off x="548640" y="2578608"/>
            <a:ext cx="731520" cy="731520"/>
          </a:xfrm>
          <a:prstGeom prst="ellipse">
            <a:avLst/>
          </a:prstGeom>
          <a:solidFill>
            <a:schemeClr val="accent3"/>
          </a:solidFill>
          <a:ln w="12700">
            <a:solidFill>
              <a:schemeClr val="accent3"/>
            </a:solidFill>
            <a:prstDash val="solid"/>
          </a:ln>
        </p:spPr>
        <p:txBody>
          <a:bodyPr/>
          <a:lstStyle/>
          <a:p>
            <a:endParaRPr lang="en-US"/>
          </a:p>
        </p:txBody>
      </p:sp>
      <p:pic>
        <p:nvPicPr>
          <p:cNvPr id="8" name="icon" descr="preencoded.png"/>
          <p:cNvPicPr>
            <a:picLocks noChangeAspect="1"/>
          </p:cNvPicPr>
          <p:nvPr/>
        </p:nvPicPr>
        <p:blipFill>
          <a:blip r:embed="rId4"/>
          <a:stretch>
            <a:fillRect/>
          </a:stretch>
        </p:blipFill>
        <p:spPr>
          <a:xfrm>
            <a:off x="724205" y="2754173"/>
            <a:ext cx="380390" cy="380390"/>
          </a:xfrm>
          <a:prstGeom prst="rect">
            <a:avLst/>
          </a:prstGeom>
        </p:spPr>
      </p:pic>
      <p:sp>
        <p:nvSpPr>
          <p:cNvPr id="9" name="Text 5"/>
          <p:cNvSpPr txBox="1"/>
          <p:nvPr/>
        </p:nvSpPr>
        <p:spPr>
          <a:xfrm>
            <a:off x="1508760" y="2560320"/>
            <a:ext cx="5852160" cy="365760"/>
          </a:xfrm>
          <a:prstGeom prst="rect">
            <a:avLst/>
          </a:prstGeom>
          <a:noFill/>
          <a:ln/>
        </p:spPr>
        <p:txBody>
          <a:bodyPr wrap="square" lIns="0" tIns="0" rIns="0" bIns="0" rtlCol="0" anchor="t"/>
          <a:lstStyle/>
          <a:p>
            <a:pPr marL="0" indent="0">
              <a:buNone/>
            </a:pPr>
            <a:r>
              <a:rPr lang="en-US" sz="1800" b="1" dirty="0">
                <a:solidFill>
                  <a:schemeClr val="tx2"/>
                </a:solidFill>
              </a:rPr>
              <a:t>Secure, separate layers</a:t>
            </a:r>
            <a:endParaRPr lang="en-US" sz="1800" dirty="0"/>
          </a:p>
        </p:txBody>
      </p:sp>
      <p:sp>
        <p:nvSpPr>
          <p:cNvPr id="10" name="Text 6"/>
          <p:cNvSpPr txBox="1"/>
          <p:nvPr/>
        </p:nvSpPr>
        <p:spPr>
          <a:xfrm>
            <a:off x="1508760" y="2944368"/>
            <a:ext cx="5852160" cy="685800"/>
          </a:xfrm>
          <a:prstGeom prst="rect">
            <a:avLst/>
          </a:prstGeom>
          <a:noFill/>
          <a:ln/>
        </p:spPr>
        <p:txBody>
          <a:bodyPr wrap="square" lIns="0" tIns="0" rIns="0" bIns="0" rtlCol="0" anchor="t"/>
          <a:lstStyle/>
          <a:p>
            <a:pPr marL="0" indent="0">
              <a:buNone/>
            </a:pPr>
            <a:r>
              <a:rPr lang="en-US" sz="1400" dirty="0">
                <a:solidFill>
                  <a:schemeClr val="tx1"/>
                </a:solidFill>
              </a:rPr>
              <a:t>API key, usage plan and validation in front; raw images, results and summaries in separate storage.</a:t>
            </a:r>
            <a:endParaRPr lang="en-US" sz="1400" dirty="0"/>
          </a:p>
        </p:txBody>
      </p:sp>
      <p:sp>
        <p:nvSpPr>
          <p:cNvPr id="11" name="icon-circle"/>
          <p:cNvSpPr/>
          <p:nvPr/>
        </p:nvSpPr>
        <p:spPr>
          <a:xfrm>
            <a:off x="548640" y="3785616"/>
            <a:ext cx="731520" cy="731520"/>
          </a:xfrm>
          <a:prstGeom prst="ellipse">
            <a:avLst/>
          </a:prstGeom>
          <a:solidFill>
            <a:schemeClr val="accent2"/>
          </a:solidFill>
          <a:ln w="12700">
            <a:solidFill>
              <a:schemeClr val="accent2"/>
            </a:solidFill>
            <a:prstDash val="solid"/>
          </a:ln>
        </p:spPr>
        <p:txBody>
          <a:bodyPr/>
          <a:lstStyle/>
          <a:p>
            <a:endParaRPr lang="en-US"/>
          </a:p>
        </p:txBody>
      </p:sp>
      <p:pic>
        <p:nvPicPr>
          <p:cNvPr id="12" name="icon" descr="preencoded.png"/>
          <p:cNvPicPr>
            <a:picLocks noChangeAspect="1"/>
          </p:cNvPicPr>
          <p:nvPr/>
        </p:nvPicPr>
        <p:blipFill>
          <a:blip r:embed="rId5"/>
          <a:stretch>
            <a:fillRect/>
          </a:stretch>
        </p:blipFill>
        <p:spPr>
          <a:xfrm>
            <a:off x="724205" y="3961181"/>
            <a:ext cx="380390" cy="380390"/>
          </a:xfrm>
          <a:prstGeom prst="rect">
            <a:avLst/>
          </a:prstGeom>
        </p:spPr>
      </p:pic>
      <p:sp>
        <p:nvSpPr>
          <p:cNvPr id="13" name="Text 8"/>
          <p:cNvSpPr txBox="1"/>
          <p:nvPr/>
        </p:nvSpPr>
        <p:spPr>
          <a:xfrm>
            <a:off x="1508760" y="3767328"/>
            <a:ext cx="5852160" cy="365760"/>
          </a:xfrm>
          <a:prstGeom prst="rect">
            <a:avLst/>
          </a:prstGeom>
          <a:noFill/>
          <a:ln/>
        </p:spPr>
        <p:txBody>
          <a:bodyPr wrap="square" lIns="0" tIns="0" rIns="0" bIns="0" rtlCol="0" anchor="t"/>
          <a:lstStyle/>
          <a:p>
            <a:pPr marL="0" indent="0">
              <a:buNone/>
            </a:pPr>
            <a:r>
              <a:rPr lang="en-US" sz="1800" b="1" dirty="0">
                <a:solidFill>
                  <a:schemeClr val="tx2"/>
                </a:solidFill>
              </a:rPr>
              <a:t>Measure, then optimise</a:t>
            </a:r>
            <a:endParaRPr lang="en-US" sz="1800" dirty="0"/>
          </a:p>
        </p:txBody>
      </p:sp>
      <p:sp>
        <p:nvSpPr>
          <p:cNvPr id="14" name="Text 9"/>
          <p:cNvSpPr txBox="1"/>
          <p:nvPr/>
        </p:nvSpPr>
        <p:spPr>
          <a:xfrm>
            <a:off x="1508760" y="4151376"/>
            <a:ext cx="5852160" cy="685800"/>
          </a:xfrm>
          <a:prstGeom prst="rect">
            <a:avLst/>
          </a:prstGeom>
          <a:noFill/>
          <a:ln/>
        </p:spPr>
        <p:txBody>
          <a:bodyPr wrap="square" lIns="0" tIns="0" rIns="0" bIns="0" rtlCol="0" anchor="t"/>
          <a:lstStyle/>
          <a:p>
            <a:pPr marL="0" indent="0">
              <a:buNone/>
            </a:pPr>
            <a:r>
              <a:rPr lang="en-US" sz="1400" dirty="0">
                <a:solidFill>
                  <a:schemeClr val="tx1"/>
                </a:solidFill>
              </a:rPr>
              <a:t>Cold starts, memory size and concurrency tested with my own test client, not guessed.</a:t>
            </a:r>
            <a:endParaRPr lang="en-US" sz="1400" dirty="0"/>
          </a:p>
        </p:txBody>
      </p:sp>
      <p:sp>
        <p:nvSpPr>
          <p:cNvPr id="15" name="icon-circle"/>
          <p:cNvSpPr/>
          <p:nvPr/>
        </p:nvSpPr>
        <p:spPr>
          <a:xfrm>
            <a:off x="548640" y="4992624"/>
            <a:ext cx="731520" cy="731520"/>
          </a:xfrm>
          <a:prstGeom prst="ellipse">
            <a:avLst/>
          </a:prstGeom>
          <a:solidFill>
            <a:schemeClr val="accent4"/>
          </a:solidFill>
          <a:ln w="12700">
            <a:solidFill>
              <a:schemeClr val="accent4"/>
            </a:solidFill>
            <a:prstDash val="solid"/>
          </a:ln>
        </p:spPr>
        <p:txBody>
          <a:bodyPr/>
          <a:lstStyle/>
          <a:p>
            <a:endParaRPr lang="en-US"/>
          </a:p>
        </p:txBody>
      </p:sp>
      <p:pic>
        <p:nvPicPr>
          <p:cNvPr id="16" name="icon" descr="preencoded.png"/>
          <p:cNvPicPr>
            <a:picLocks noChangeAspect="1"/>
          </p:cNvPicPr>
          <p:nvPr/>
        </p:nvPicPr>
        <p:blipFill>
          <a:blip r:embed="rId6"/>
          <a:stretch>
            <a:fillRect/>
          </a:stretch>
        </p:blipFill>
        <p:spPr>
          <a:xfrm>
            <a:off x="724205" y="5168189"/>
            <a:ext cx="380390" cy="380390"/>
          </a:xfrm>
          <a:prstGeom prst="rect">
            <a:avLst/>
          </a:prstGeom>
        </p:spPr>
      </p:pic>
      <p:sp>
        <p:nvSpPr>
          <p:cNvPr id="17" name="Text 11"/>
          <p:cNvSpPr txBox="1"/>
          <p:nvPr/>
        </p:nvSpPr>
        <p:spPr>
          <a:xfrm>
            <a:off x="1508760" y="4974336"/>
            <a:ext cx="5852160" cy="365760"/>
          </a:xfrm>
          <a:prstGeom prst="rect">
            <a:avLst/>
          </a:prstGeom>
          <a:noFill/>
          <a:ln/>
        </p:spPr>
        <p:txBody>
          <a:bodyPr wrap="square" lIns="0" tIns="0" rIns="0" bIns="0" rtlCol="0" anchor="t"/>
          <a:lstStyle/>
          <a:p>
            <a:pPr marL="0" indent="0">
              <a:buNone/>
            </a:pPr>
            <a:r>
              <a:rPr lang="en-US" sz="1800" b="1" dirty="0">
                <a:solidFill>
                  <a:schemeClr val="tx2"/>
                </a:solidFill>
              </a:rPr>
              <a:t>Reproducible</a:t>
            </a:r>
            <a:endParaRPr lang="en-US" sz="1800" dirty="0"/>
          </a:p>
        </p:txBody>
      </p:sp>
      <p:sp>
        <p:nvSpPr>
          <p:cNvPr id="18" name="Text 12"/>
          <p:cNvSpPr txBox="1"/>
          <p:nvPr/>
        </p:nvSpPr>
        <p:spPr>
          <a:xfrm>
            <a:off x="1508760" y="5358384"/>
            <a:ext cx="5852160" cy="685800"/>
          </a:xfrm>
          <a:prstGeom prst="rect">
            <a:avLst/>
          </a:prstGeom>
          <a:noFill/>
          <a:ln/>
        </p:spPr>
        <p:txBody>
          <a:bodyPr wrap="square" lIns="0" tIns="0" rIns="0" bIns="0" rtlCol="0" anchor="t"/>
          <a:lstStyle/>
          <a:p>
            <a:pPr marL="0" indent="0">
              <a:buNone/>
            </a:pPr>
            <a:r>
              <a:rPr lang="en-US" sz="1400" dirty="0">
                <a:solidFill>
                  <a:schemeClr val="tx1"/>
                </a:solidFill>
              </a:rPr>
              <a:t>The whole stack can be created again with one CloudFormation command.</a:t>
            </a:r>
            <a:endParaRPr lang="en-US" sz="1400" dirty="0"/>
          </a:p>
        </p:txBody>
      </p:sp>
      <p:sp>
        <p:nvSpPr>
          <p:cNvPr id="19" name="card"/>
          <p:cNvSpPr/>
          <p:nvPr/>
        </p:nvSpPr>
        <p:spPr>
          <a:xfrm>
            <a:off x="7726680" y="1371600"/>
            <a:ext cx="3931920" cy="4663440"/>
          </a:xfrm>
          <a:prstGeom prst="roundRect">
            <a:avLst>
              <a:gd name="adj" fmla="val 2791"/>
            </a:avLst>
          </a:prstGeom>
          <a:solidFill>
            <a:schemeClr val="bg2"/>
          </a:solidFill>
          <a:ln w="12700">
            <a:solidFill>
              <a:schemeClr val="bg2"/>
            </a:solidFill>
            <a:prstDash val="solid"/>
          </a:ln>
        </p:spPr>
        <p:txBody>
          <a:bodyPr/>
          <a:lstStyle/>
          <a:p>
            <a:endParaRPr lang="en-US"/>
          </a:p>
        </p:txBody>
      </p:sp>
      <p:sp>
        <p:nvSpPr>
          <p:cNvPr id="20" name="Text 14"/>
          <p:cNvSpPr txBox="1"/>
          <p:nvPr/>
        </p:nvSpPr>
        <p:spPr>
          <a:xfrm>
            <a:off x="8001000" y="1600200"/>
            <a:ext cx="3474720" cy="365760"/>
          </a:xfrm>
          <a:prstGeom prst="rect">
            <a:avLst/>
          </a:prstGeom>
          <a:noFill/>
          <a:ln/>
        </p:spPr>
        <p:txBody>
          <a:bodyPr wrap="square" lIns="0" tIns="0" rIns="0" bIns="0" rtlCol="0" anchor="t"/>
          <a:lstStyle/>
          <a:p>
            <a:pPr marL="0" indent="0">
              <a:buNone/>
            </a:pPr>
            <a:r>
              <a:rPr lang="en-US" sz="1700" b="1" dirty="0">
                <a:solidFill>
                  <a:schemeClr val="tx2"/>
                </a:solidFill>
              </a:rPr>
              <a:t>Constraints I worked with</a:t>
            </a:r>
            <a:endParaRPr lang="en-US" sz="1700" dirty="0"/>
          </a:p>
        </p:txBody>
      </p:sp>
      <p:sp>
        <p:nvSpPr>
          <p:cNvPr id="21" name="Text 15"/>
          <p:cNvSpPr txBox="1"/>
          <p:nvPr/>
        </p:nvSpPr>
        <p:spPr>
          <a:xfrm>
            <a:off x="8001000" y="2103120"/>
            <a:ext cx="3474720" cy="3657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Personal account on the AWS Free plan</a:t>
            </a:r>
            <a:endParaRPr lang="en-US" sz="1500" dirty="0"/>
          </a:p>
          <a:p>
            <a:pPr marL="342900" indent="-342900">
              <a:spcAft>
                <a:spcPts val="1000"/>
              </a:spcAft>
              <a:buSzPct val="100000"/>
              <a:buChar char="•"/>
            </a:pPr>
            <a:r>
              <a:rPr lang="en-US" sz="1500" dirty="0">
                <a:solidFill>
                  <a:schemeClr val="tx1"/>
                </a:solidFill>
              </a:rPr>
              <a:t>t3.large blocked, so EC2 is m7i-flex.large</a:t>
            </a:r>
            <a:endParaRPr lang="en-US" sz="1500" dirty="0"/>
          </a:p>
          <a:p>
            <a:pPr marL="342900" indent="-342900">
              <a:spcAft>
                <a:spcPts val="1000"/>
              </a:spcAft>
              <a:buSzPct val="100000"/>
              <a:buChar char="•"/>
            </a:pPr>
            <a:r>
              <a:rPr lang="en-US" sz="1500" dirty="0">
                <a:solidFill>
                  <a:schemeClr val="tx1"/>
                </a:solidFill>
              </a:rPr>
              <a:t>Lambda concurrency limit: only 10</a:t>
            </a:r>
            <a:endParaRPr lang="en-US" sz="1500" dirty="0"/>
          </a:p>
          <a:p>
            <a:pPr marL="342900" indent="-342900">
              <a:spcAft>
                <a:spcPts val="1000"/>
              </a:spcAft>
              <a:buSzPct val="100000"/>
              <a:buChar char="•"/>
            </a:pPr>
            <a:r>
              <a:rPr lang="en-US" sz="1500" dirty="0">
                <a:solidFill>
                  <a:schemeClr val="tx1"/>
                </a:solidFill>
              </a:rPr>
              <a:t>Lambda init limit: 10 seconds</a:t>
            </a:r>
            <a:endParaRPr lang="en-US" sz="1500" dirty="0"/>
          </a:p>
          <a:p>
            <a:pPr marL="342900" indent="-342900">
              <a:spcAft>
                <a:spcPts val="1000"/>
              </a:spcAft>
              <a:buSzPct val="100000"/>
              <a:buChar char="•"/>
            </a:pPr>
            <a:r>
              <a:rPr lang="en-US" sz="1500" dirty="0">
                <a:solidFill>
                  <a:schemeClr val="tx1"/>
                </a:solidFill>
              </a:rPr>
              <a:t>API Gateway timeout: 29 seconds</a:t>
            </a:r>
            <a:endParaRPr lang="en-US" sz="1500" dirty="0"/>
          </a:p>
          <a:p>
            <a:pPr marL="342900" indent="-342900">
              <a:spcAft>
                <a:spcPts val="1000"/>
              </a:spcAft>
              <a:buSzPct val="100000"/>
              <a:buChar char="•"/>
            </a:pPr>
            <a:r>
              <a:rPr lang="en-US" sz="1500" dirty="0">
                <a:solidFill>
                  <a:schemeClr val="tx1"/>
                </a:solidFill>
              </a:rPr>
              <a:t>No GPU: CPU-only PyTorch</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67394"/>
    </mc:Choice>
    <mc:Fallback xmlns="">
      <p:transition spd="slow" advTm="6739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Architecture: three layers, one clear request path</a:t>
            </a:r>
            <a:endParaRPr lang="en-US" sz="3200" dirty="0"/>
          </a:p>
        </p:txBody>
      </p:sp>
      <p:pic>
        <p:nvPicPr>
          <p:cNvPr id="3" name="architecture.png" descr="Architecture diagram"/>
          <p:cNvPicPr>
            <a:picLocks noChangeAspect="1"/>
          </p:cNvPicPr>
          <p:nvPr/>
        </p:nvPicPr>
        <p:blipFill>
          <a:blip r:embed="rId3"/>
          <a:stretch>
            <a:fillRect/>
          </a:stretch>
        </p:blipFill>
        <p:spPr>
          <a:xfrm>
            <a:off x="1813560" y="1188720"/>
            <a:ext cx="8534400" cy="512064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75186"/>
    </mc:Choice>
    <mc:Fallback xmlns="">
      <p:transition spd="slow" advTm="7518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How I built it, step by step</a:t>
            </a:r>
            <a:endParaRPr lang="en-US" sz="3200" dirty="0"/>
          </a:p>
        </p:txBody>
      </p:sp>
      <p:sp>
        <p:nvSpPr>
          <p:cNvPr id="3" name="card"/>
          <p:cNvSpPr/>
          <p:nvPr/>
        </p:nvSpPr>
        <p:spPr>
          <a:xfrm>
            <a:off x="548640" y="1508760"/>
            <a:ext cx="1517904" cy="4206240"/>
          </a:xfrm>
          <a:prstGeom prst="roundRect">
            <a:avLst>
              <a:gd name="adj" fmla="val 7229"/>
            </a:avLst>
          </a:prstGeom>
          <a:solidFill>
            <a:srgbClr val="FFF4EA"/>
          </a:solidFill>
          <a:ln w="12700">
            <a:solidFill>
              <a:srgbClr val="FFF4EA"/>
            </a:solidFill>
            <a:prstDash val="solid"/>
          </a:ln>
        </p:spPr>
        <p:txBody>
          <a:bodyPr/>
          <a:lstStyle/>
          <a:p>
            <a:endParaRPr lang="en-US"/>
          </a:p>
        </p:txBody>
      </p:sp>
      <p:sp>
        <p:nvSpPr>
          <p:cNvPr id="4" name="step-number"/>
          <p:cNvSpPr/>
          <p:nvPr/>
        </p:nvSpPr>
        <p:spPr>
          <a:xfrm>
            <a:off x="941832" y="1828800"/>
            <a:ext cx="731520" cy="731520"/>
          </a:xfrm>
          <a:prstGeom prst="ellipse">
            <a:avLst/>
          </a:prstGeom>
          <a:solidFill>
            <a:schemeClr val="accent1"/>
          </a:solidFill>
          <a:ln w="12700">
            <a:solidFill>
              <a:schemeClr val="accent1"/>
            </a:solidFill>
            <a:prstDash val="solid"/>
          </a:ln>
        </p:spPr>
        <p:txBody>
          <a:bodyPr/>
          <a:lstStyle/>
          <a:p>
            <a:endParaRPr lang="en-US"/>
          </a:p>
        </p:txBody>
      </p:sp>
      <p:sp>
        <p:nvSpPr>
          <p:cNvPr id="5" name="Text 3"/>
          <p:cNvSpPr txBox="1"/>
          <p:nvPr/>
        </p:nvSpPr>
        <p:spPr>
          <a:xfrm>
            <a:off x="941832" y="1828800"/>
            <a:ext cx="731520" cy="731520"/>
          </a:xfrm>
          <a:prstGeom prst="rect">
            <a:avLst/>
          </a:prstGeom>
          <a:noFill/>
          <a:ln/>
        </p:spPr>
        <p:txBody>
          <a:bodyPr wrap="square" lIns="0" tIns="0" rIns="0" bIns="0" rtlCol="0" anchor="ctr"/>
          <a:lstStyle/>
          <a:p>
            <a:pPr marL="0" indent="0" algn="ctr">
              <a:buNone/>
            </a:pPr>
            <a:r>
              <a:rPr lang="en-US" sz="2400" b="1" dirty="0">
                <a:solidFill>
                  <a:schemeClr val="bg1"/>
                </a:solidFill>
              </a:rPr>
              <a:t>1</a:t>
            </a:r>
            <a:endParaRPr lang="en-US" sz="2400" dirty="0"/>
          </a:p>
        </p:txBody>
      </p:sp>
      <p:sp>
        <p:nvSpPr>
          <p:cNvPr id="6" name="Text 4"/>
          <p:cNvSpPr txBox="1"/>
          <p:nvPr/>
        </p:nvSpPr>
        <p:spPr>
          <a:xfrm>
            <a:off x="585216" y="2834640"/>
            <a:ext cx="1444752" cy="457200"/>
          </a:xfrm>
          <a:prstGeom prst="rect">
            <a:avLst/>
          </a:prstGeom>
          <a:noFill/>
          <a:ln/>
        </p:spPr>
        <p:txBody>
          <a:bodyPr wrap="square" lIns="0" tIns="0" rIns="0" bIns="0" rtlCol="0" anchor="t"/>
          <a:lstStyle/>
          <a:p>
            <a:pPr marL="0" indent="0" algn="ctr">
              <a:buNone/>
            </a:pPr>
            <a:r>
              <a:rPr lang="en-US" sz="1400" b="1" dirty="0">
                <a:solidFill>
                  <a:schemeClr val="tx2"/>
                </a:solidFill>
              </a:rPr>
              <a:t>IAM + S3</a:t>
            </a:r>
            <a:endParaRPr lang="en-US" sz="1400" dirty="0"/>
          </a:p>
        </p:txBody>
      </p:sp>
      <p:sp>
        <p:nvSpPr>
          <p:cNvPr id="7" name="Text 5"/>
          <p:cNvSpPr txBox="1"/>
          <p:nvPr/>
        </p:nvSpPr>
        <p:spPr>
          <a:xfrm>
            <a:off x="676656" y="3429000"/>
            <a:ext cx="1261872" cy="2194560"/>
          </a:xfrm>
          <a:prstGeom prst="rect">
            <a:avLst/>
          </a:prstGeom>
          <a:noFill/>
          <a:ln/>
        </p:spPr>
        <p:txBody>
          <a:bodyPr wrap="square" lIns="0" tIns="0" rIns="0" bIns="0" rtlCol="0" anchor="t"/>
          <a:lstStyle/>
          <a:p>
            <a:pPr marL="0" indent="0" algn="ctr">
              <a:buNone/>
            </a:pPr>
            <a:r>
              <a:rPr lang="en-US" sz="1400" dirty="0">
                <a:solidFill>
                  <a:schemeClr val="tx1"/>
                </a:solidFill>
              </a:rPr>
              <a:t>Admin user with MFA, budget alert, two private encrypted buckets, COCO128 images</a:t>
            </a:r>
            <a:endParaRPr lang="en-US" sz="1400" dirty="0"/>
          </a:p>
        </p:txBody>
      </p:sp>
      <p:sp>
        <p:nvSpPr>
          <p:cNvPr id="8" name="card"/>
          <p:cNvSpPr/>
          <p:nvPr/>
        </p:nvSpPr>
        <p:spPr>
          <a:xfrm>
            <a:off x="2139696" y="1508760"/>
            <a:ext cx="1517904" cy="4206240"/>
          </a:xfrm>
          <a:prstGeom prst="roundRect">
            <a:avLst>
              <a:gd name="adj" fmla="val 7229"/>
            </a:avLst>
          </a:prstGeom>
          <a:solidFill>
            <a:schemeClr val="bg2"/>
          </a:solidFill>
          <a:ln w="12700">
            <a:solidFill>
              <a:schemeClr val="bg2"/>
            </a:solidFill>
            <a:prstDash val="solid"/>
          </a:ln>
        </p:spPr>
        <p:txBody>
          <a:bodyPr/>
          <a:lstStyle/>
          <a:p>
            <a:endParaRPr lang="en-US"/>
          </a:p>
        </p:txBody>
      </p:sp>
      <p:sp>
        <p:nvSpPr>
          <p:cNvPr id="9" name="step-number"/>
          <p:cNvSpPr/>
          <p:nvPr/>
        </p:nvSpPr>
        <p:spPr>
          <a:xfrm>
            <a:off x="2532888" y="1828800"/>
            <a:ext cx="731520" cy="731520"/>
          </a:xfrm>
          <a:prstGeom prst="ellipse">
            <a:avLst/>
          </a:prstGeom>
          <a:solidFill>
            <a:schemeClr val="accent1"/>
          </a:solidFill>
          <a:ln w="12700">
            <a:solidFill>
              <a:schemeClr val="accent1"/>
            </a:solidFill>
            <a:prstDash val="solid"/>
          </a:ln>
        </p:spPr>
        <p:txBody>
          <a:bodyPr/>
          <a:lstStyle/>
          <a:p>
            <a:endParaRPr lang="en-US"/>
          </a:p>
        </p:txBody>
      </p:sp>
      <p:sp>
        <p:nvSpPr>
          <p:cNvPr id="10" name="Text 8"/>
          <p:cNvSpPr txBox="1"/>
          <p:nvPr/>
        </p:nvSpPr>
        <p:spPr>
          <a:xfrm>
            <a:off x="2532888" y="1828800"/>
            <a:ext cx="731520" cy="731520"/>
          </a:xfrm>
          <a:prstGeom prst="rect">
            <a:avLst/>
          </a:prstGeom>
          <a:noFill/>
          <a:ln/>
        </p:spPr>
        <p:txBody>
          <a:bodyPr wrap="square" lIns="0" tIns="0" rIns="0" bIns="0" rtlCol="0" anchor="ctr"/>
          <a:lstStyle/>
          <a:p>
            <a:pPr marL="0" indent="0" algn="ctr">
              <a:buNone/>
            </a:pPr>
            <a:r>
              <a:rPr lang="en-US" sz="2400" b="1" dirty="0">
                <a:solidFill>
                  <a:schemeClr val="bg1"/>
                </a:solidFill>
              </a:rPr>
              <a:t>2</a:t>
            </a:r>
            <a:endParaRPr lang="en-US" sz="2400" dirty="0"/>
          </a:p>
        </p:txBody>
      </p:sp>
      <p:sp>
        <p:nvSpPr>
          <p:cNvPr id="11" name="Text 9"/>
          <p:cNvSpPr txBox="1"/>
          <p:nvPr/>
        </p:nvSpPr>
        <p:spPr>
          <a:xfrm>
            <a:off x="2176272" y="2834640"/>
            <a:ext cx="1444752" cy="457200"/>
          </a:xfrm>
          <a:prstGeom prst="rect">
            <a:avLst/>
          </a:prstGeom>
          <a:noFill/>
          <a:ln/>
        </p:spPr>
        <p:txBody>
          <a:bodyPr wrap="square" lIns="0" tIns="0" rIns="0" bIns="0" rtlCol="0" anchor="t"/>
          <a:lstStyle/>
          <a:p>
            <a:pPr marL="0" indent="0" algn="ctr">
              <a:buNone/>
            </a:pPr>
            <a:r>
              <a:rPr lang="en-US" sz="1400" b="1" dirty="0">
                <a:solidFill>
                  <a:schemeClr val="tx2"/>
                </a:solidFill>
              </a:rPr>
              <a:t>EC2 + YOLOv5</a:t>
            </a:r>
            <a:endParaRPr lang="en-US" sz="1400" dirty="0"/>
          </a:p>
        </p:txBody>
      </p:sp>
      <p:sp>
        <p:nvSpPr>
          <p:cNvPr id="12" name="Text 10"/>
          <p:cNvSpPr txBox="1"/>
          <p:nvPr/>
        </p:nvSpPr>
        <p:spPr>
          <a:xfrm>
            <a:off x="2267712" y="3429000"/>
            <a:ext cx="1261872" cy="2194560"/>
          </a:xfrm>
          <a:prstGeom prst="rect">
            <a:avLst/>
          </a:prstGeom>
          <a:noFill/>
          <a:ln/>
        </p:spPr>
        <p:txBody>
          <a:bodyPr wrap="square" lIns="0" tIns="0" rIns="0" bIns="0" rtlCol="0" anchor="t"/>
          <a:lstStyle/>
          <a:p>
            <a:pPr marL="0" indent="0" algn="ctr">
              <a:buNone/>
            </a:pPr>
            <a:r>
              <a:rPr lang="en-US" sz="1400" dirty="0">
                <a:solidFill>
                  <a:schemeClr val="tx1"/>
                </a:solidFill>
              </a:rPr>
              <a:t>m7i-flex.large, CPU PyTorch, tested on my S3 images (115 ms per image)</a:t>
            </a:r>
            <a:endParaRPr lang="en-US" sz="1400" dirty="0"/>
          </a:p>
        </p:txBody>
      </p:sp>
      <p:sp>
        <p:nvSpPr>
          <p:cNvPr id="13" name="card"/>
          <p:cNvSpPr/>
          <p:nvPr/>
        </p:nvSpPr>
        <p:spPr>
          <a:xfrm>
            <a:off x="3730752" y="1508760"/>
            <a:ext cx="1517904" cy="4206240"/>
          </a:xfrm>
          <a:prstGeom prst="roundRect">
            <a:avLst>
              <a:gd name="adj" fmla="val 7229"/>
            </a:avLst>
          </a:prstGeom>
          <a:solidFill>
            <a:srgbClr val="FFF4EA"/>
          </a:solidFill>
          <a:ln w="12700">
            <a:solidFill>
              <a:srgbClr val="FFF4EA"/>
            </a:solidFill>
            <a:prstDash val="solid"/>
          </a:ln>
        </p:spPr>
        <p:txBody>
          <a:bodyPr/>
          <a:lstStyle/>
          <a:p>
            <a:endParaRPr lang="en-US"/>
          </a:p>
        </p:txBody>
      </p:sp>
      <p:sp>
        <p:nvSpPr>
          <p:cNvPr id="14" name="step-number"/>
          <p:cNvSpPr/>
          <p:nvPr/>
        </p:nvSpPr>
        <p:spPr>
          <a:xfrm>
            <a:off x="4123944" y="1828800"/>
            <a:ext cx="731520" cy="731520"/>
          </a:xfrm>
          <a:prstGeom prst="ellipse">
            <a:avLst/>
          </a:prstGeom>
          <a:solidFill>
            <a:schemeClr val="accent1"/>
          </a:solidFill>
          <a:ln w="12700">
            <a:solidFill>
              <a:schemeClr val="accent1"/>
            </a:solidFill>
            <a:prstDash val="solid"/>
          </a:ln>
        </p:spPr>
        <p:txBody>
          <a:bodyPr/>
          <a:lstStyle/>
          <a:p>
            <a:endParaRPr lang="en-US"/>
          </a:p>
        </p:txBody>
      </p:sp>
      <p:sp>
        <p:nvSpPr>
          <p:cNvPr id="15" name="Text 13"/>
          <p:cNvSpPr txBox="1"/>
          <p:nvPr/>
        </p:nvSpPr>
        <p:spPr>
          <a:xfrm>
            <a:off x="4123944" y="1828800"/>
            <a:ext cx="731520" cy="731520"/>
          </a:xfrm>
          <a:prstGeom prst="rect">
            <a:avLst/>
          </a:prstGeom>
          <a:noFill/>
          <a:ln/>
        </p:spPr>
        <p:txBody>
          <a:bodyPr wrap="square" lIns="0" tIns="0" rIns="0" bIns="0" rtlCol="0" anchor="ctr"/>
          <a:lstStyle/>
          <a:p>
            <a:pPr marL="0" indent="0" algn="ctr">
              <a:buNone/>
            </a:pPr>
            <a:r>
              <a:rPr lang="en-US" sz="2400" b="1" dirty="0">
                <a:solidFill>
                  <a:schemeClr val="bg1"/>
                </a:solidFill>
              </a:rPr>
              <a:t>3</a:t>
            </a:r>
            <a:endParaRPr lang="en-US" sz="2400" dirty="0"/>
          </a:p>
        </p:txBody>
      </p:sp>
      <p:sp>
        <p:nvSpPr>
          <p:cNvPr id="16" name="Text 14"/>
          <p:cNvSpPr txBox="1"/>
          <p:nvPr/>
        </p:nvSpPr>
        <p:spPr>
          <a:xfrm>
            <a:off x="3767328" y="2834640"/>
            <a:ext cx="1444752" cy="457200"/>
          </a:xfrm>
          <a:prstGeom prst="rect">
            <a:avLst/>
          </a:prstGeom>
          <a:noFill/>
          <a:ln/>
        </p:spPr>
        <p:txBody>
          <a:bodyPr wrap="square" lIns="0" tIns="0" rIns="0" bIns="0" rtlCol="0" anchor="t"/>
          <a:lstStyle/>
          <a:p>
            <a:pPr marL="0" indent="0" algn="ctr">
              <a:buNone/>
            </a:pPr>
            <a:r>
              <a:rPr lang="en-US" sz="1400" b="1" dirty="0">
                <a:solidFill>
                  <a:schemeClr val="tx2"/>
                </a:solidFill>
              </a:rPr>
              <a:t>Docker + ECR</a:t>
            </a:r>
            <a:endParaRPr lang="en-US" sz="1400" dirty="0"/>
          </a:p>
        </p:txBody>
      </p:sp>
      <p:sp>
        <p:nvSpPr>
          <p:cNvPr id="17" name="Text 15"/>
          <p:cNvSpPr txBox="1"/>
          <p:nvPr/>
        </p:nvSpPr>
        <p:spPr>
          <a:xfrm>
            <a:off x="3858768" y="3429000"/>
            <a:ext cx="1261872" cy="2194560"/>
          </a:xfrm>
          <a:prstGeom prst="rect">
            <a:avLst/>
          </a:prstGeom>
          <a:noFill/>
          <a:ln/>
        </p:spPr>
        <p:txBody>
          <a:bodyPr wrap="square" lIns="0" tIns="0" rIns="0" bIns="0" rtlCol="0" anchor="t"/>
          <a:lstStyle/>
          <a:p>
            <a:pPr marL="0" indent="0" algn="ctr">
              <a:buNone/>
            </a:pPr>
            <a:r>
              <a:rPr lang="en-US" sz="1400" dirty="0">
                <a:solidFill>
                  <a:schemeClr val="tx1"/>
                </a:solidFill>
              </a:rPr>
              <a:t>Lambda base image, YOLOv5 and weights inside, built on EC2, pushed to ECR</a:t>
            </a:r>
            <a:endParaRPr lang="en-US" sz="1400" dirty="0"/>
          </a:p>
        </p:txBody>
      </p:sp>
      <p:sp>
        <p:nvSpPr>
          <p:cNvPr id="18" name="card"/>
          <p:cNvSpPr/>
          <p:nvPr/>
        </p:nvSpPr>
        <p:spPr>
          <a:xfrm>
            <a:off x="5321808" y="1508760"/>
            <a:ext cx="1517904" cy="4206240"/>
          </a:xfrm>
          <a:prstGeom prst="roundRect">
            <a:avLst>
              <a:gd name="adj" fmla="val 7229"/>
            </a:avLst>
          </a:prstGeom>
          <a:solidFill>
            <a:schemeClr val="bg2"/>
          </a:solidFill>
          <a:ln w="12700">
            <a:solidFill>
              <a:schemeClr val="bg2"/>
            </a:solidFill>
            <a:prstDash val="solid"/>
          </a:ln>
        </p:spPr>
        <p:txBody>
          <a:bodyPr/>
          <a:lstStyle/>
          <a:p>
            <a:endParaRPr lang="en-US"/>
          </a:p>
        </p:txBody>
      </p:sp>
      <p:sp>
        <p:nvSpPr>
          <p:cNvPr id="19" name="step-number"/>
          <p:cNvSpPr/>
          <p:nvPr/>
        </p:nvSpPr>
        <p:spPr>
          <a:xfrm>
            <a:off x="5715000" y="1828800"/>
            <a:ext cx="731520" cy="731520"/>
          </a:xfrm>
          <a:prstGeom prst="ellipse">
            <a:avLst/>
          </a:prstGeom>
          <a:solidFill>
            <a:schemeClr val="accent1"/>
          </a:solidFill>
          <a:ln w="12700">
            <a:solidFill>
              <a:schemeClr val="accent1"/>
            </a:solidFill>
            <a:prstDash val="solid"/>
          </a:ln>
        </p:spPr>
        <p:txBody>
          <a:bodyPr/>
          <a:lstStyle/>
          <a:p>
            <a:endParaRPr lang="en-US"/>
          </a:p>
        </p:txBody>
      </p:sp>
      <p:sp>
        <p:nvSpPr>
          <p:cNvPr id="20" name="Text 18"/>
          <p:cNvSpPr txBox="1"/>
          <p:nvPr/>
        </p:nvSpPr>
        <p:spPr>
          <a:xfrm>
            <a:off x="5715000" y="1828800"/>
            <a:ext cx="731520" cy="731520"/>
          </a:xfrm>
          <a:prstGeom prst="rect">
            <a:avLst/>
          </a:prstGeom>
          <a:noFill/>
          <a:ln/>
        </p:spPr>
        <p:txBody>
          <a:bodyPr wrap="square" lIns="0" tIns="0" rIns="0" bIns="0" rtlCol="0" anchor="ctr"/>
          <a:lstStyle/>
          <a:p>
            <a:pPr marL="0" indent="0" algn="ctr">
              <a:buNone/>
            </a:pPr>
            <a:r>
              <a:rPr lang="en-US" sz="2400" b="1" dirty="0">
                <a:solidFill>
                  <a:schemeClr val="bg1"/>
                </a:solidFill>
              </a:rPr>
              <a:t>4</a:t>
            </a:r>
            <a:endParaRPr lang="en-US" sz="2400" dirty="0"/>
          </a:p>
        </p:txBody>
      </p:sp>
      <p:sp>
        <p:nvSpPr>
          <p:cNvPr id="21" name="Text 19"/>
          <p:cNvSpPr txBox="1"/>
          <p:nvPr/>
        </p:nvSpPr>
        <p:spPr>
          <a:xfrm>
            <a:off x="5358384" y="2834640"/>
            <a:ext cx="1444752" cy="457200"/>
          </a:xfrm>
          <a:prstGeom prst="rect">
            <a:avLst/>
          </a:prstGeom>
          <a:noFill/>
          <a:ln/>
        </p:spPr>
        <p:txBody>
          <a:bodyPr wrap="square" lIns="0" tIns="0" rIns="0" bIns="0" rtlCol="0" anchor="t"/>
          <a:lstStyle/>
          <a:p>
            <a:pPr marL="0" indent="0" algn="ctr">
              <a:buNone/>
            </a:pPr>
            <a:r>
              <a:rPr lang="en-US" sz="1400" b="1" dirty="0">
                <a:solidFill>
                  <a:schemeClr val="tx2"/>
                </a:solidFill>
              </a:rPr>
              <a:t>Lambda</a:t>
            </a:r>
            <a:endParaRPr lang="en-US" sz="1400" dirty="0"/>
          </a:p>
        </p:txBody>
      </p:sp>
      <p:sp>
        <p:nvSpPr>
          <p:cNvPr id="22" name="Text 20"/>
          <p:cNvSpPr txBox="1"/>
          <p:nvPr/>
        </p:nvSpPr>
        <p:spPr>
          <a:xfrm>
            <a:off x="5449824" y="3429000"/>
            <a:ext cx="1261872" cy="2194560"/>
          </a:xfrm>
          <a:prstGeom prst="rect">
            <a:avLst/>
          </a:prstGeom>
          <a:noFill/>
          <a:ln/>
        </p:spPr>
        <p:txBody>
          <a:bodyPr wrap="square" lIns="0" tIns="0" rIns="0" bIns="0" rtlCol="0" anchor="t"/>
          <a:lstStyle/>
          <a:p>
            <a:pPr marL="0" indent="0" algn="ctr">
              <a:buNone/>
            </a:pPr>
            <a:r>
              <a:rPr lang="en-US" sz="1400" dirty="0">
                <a:solidFill>
                  <a:schemeClr val="tx1"/>
                </a:solidFill>
              </a:rPr>
              <a:t>Container function, 3008 MB, validation, retries, JSON logs</a:t>
            </a:r>
            <a:endParaRPr lang="en-US" sz="1400" dirty="0"/>
          </a:p>
        </p:txBody>
      </p:sp>
      <p:sp>
        <p:nvSpPr>
          <p:cNvPr id="23" name="card"/>
          <p:cNvSpPr/>
          <p:nvPr/>
        </p:nvSpPr>
        <p:spPr>
          <a:xfrm>
            <a:off x="6912864" y="1508760"/>
            <a:ext cx="1517904" cy="4206240"/>
          </a:xfrm>
          <a:prstGeom prst="roundRect">
            <a:avLst>
              <a:gd name="adj" fmla="val 7229"/>
            </a:avLst>
          </a:prstGeom>
          <a:solidFill>
            <a:srgbClr val="FFF4EA"/>
          </a:solidFill>
          <a:ln w="12700">
            <a:solidFill>
              <a:srgbClr val="FFF4EA"/>
            </a:solidFill>
            <a:prstDash val="solid"/>
          </a:ln>
        </p:spPr>
        <p:txBody>
          <a:bodyPr/>
          <a:lstStyle/>
          <a:p>
            <a:endParaRPr lang="en-US"/>
          </a:p>
        </p:txBody>
      </p:sp>
      <p:sp>
        <p:nvSpPr>
          <p:cNvPr id="24" name="step-number"/>
          <p:cNvSpPr/>
          <p:nvPr/>
        </p:nvSpPr>
        <p:spPr>
          <a:xfrm>
            <a:off x="7306056" y="1828800"/>
            <a:ext cx="731520" cy="731520"/>
          </a:xfrm>
          <a:prstGeom prst="ellipse">
            <a:avLst/>
          </a:prstGeom>
          <a:solidFill>
            <a:schemeClr val="accent1"/>
          </a:solidFill>
          <a:ln w="12700">
            <a:solidFill>
              <a:schemeClr val="accent1"/>
            </a:solidFill>
            <a:prstDash val="solid"/>
          </a:ln>
        </p:spPr>
        <p:txBody>
          <a:bodyPr/>
          <a:lstStyle/>
          <a:p>
            <a:endParaRPr lang="en-US"/>
          </a:p>
        </p:txBody>
      </p:sp>
      <p:sp>
        <p:nvSpPr>
          <p:cNvPr id="25" name="Text 23"/>
          <p:cNvSpPr txBox="1"/>
          <p:nvPr/>
        </p:nvSpPr>
        <p:spPr>
          <a:xfrm>
            <a:off x="7306056" y="1828800"/>
            <a:ext cx="731520" cy="731520"/>
          </a:xfrm>
          <a:prstGeom prst="rect">
            <a:avLst/>
          </a:prstGeom>
          <a:noFill/>
          <a:ln/>
        </p:spPr>
        <p:txBody>
          <a:bodyPr wrap="square" lIns="0" tIns="0" rIns="0" bIns="0" rtlCol="0" anchor="ctr"/>
          <a:lstStyle/>
          <a:p>
            <a:pPr marL="0" indent="0" algn="ctr">
              <a:buNone/>
            </a:pPr>
            <a:r>
              <a:rPr lang="en-US" sz="2400" b="1" dirty="0">
                <a:solidFill>
                  <a:schemeClr val="bg1"/>
                </a:solidFill>
              </a:rPr>
              <a:t>5</a:t>
            </a:r>
            <a:endParaRPr lang="en-US" sz="2400" dirty="0"/>
          </a:p>
        </p:txBody>
      </p:sp>
      <p:sp>
        <p:nvSpPr>
          <p:cNvPr id="26" name="Text 24"/>
          <p:cNvSpPr txBox="1"/>
          <p:nvPr/>
        </p:nvSpPr>
        <p:spPr>
          <a:xfrm>
            <a:off x="6949440" y="2834640"/>
            <a:ext cx="1444752" cy="457200"/>
          </a:xfrm>
          <a:prstGeom prst="rect">
            <a:avLst/>
          </a:prstGeom>
          <a:noFill/>
          <a:ln/>
        </p:spPr>
        <p:txBody>
          <a:bodyPr wrap="square" lIns="0" tIns="0" rIns="0" bIns="0" rtlCol="0" anchor="t"/>
          <a:lstStyle/>
          <a:p>
            <a:pPr marL="0" indent="0" algn="ctr">
              <a:buNone/>
            </a:pPr>
            <a:r>
              <a:rPr lang="en-US" sz="1400" b="1" dirty="0">
                <a:solidFill>
                  <a:schemeClr val="tx2"/>
                </a:solidFill>
              </a:rPr>
              <a:t>DynamoDB</a:t>
            </a:r>
            <a:endParaRPr lang="en-US" sz="1400" dirty="0"/>
          </a:p>
        </p:txBody>
      </p:sp>
      <p:sp>
        <p:nvSpPr>
          <p:cNvPr id="27" name="Text 25"/>
          <p:cNvSpPr txBox="1"/>
          <p:nvPr/>
        </p:nvSpPr>
        <p:spPr>
          <a:xfrm>
            <a:off x="7040880" y="3429000"/>
            <a:ext cx="1261872" cy="2194560"/>
          </a:xfrm>
          <a:prstGeom prst="rect">
            <a:avLst/>
          </a:prstGeom>
          <a:noFill/>
          <a:ln/>
        </p:spPr>
        <p:txBody>
          <a:bodyPr wrap="square" lIns="0" tIns="0" rIns="0" bIns="0" rtlCol="0" anchor="t"/>
          <a:lstStyle/>
          <a:p>
            <a:pPr marL="0" indent="0" algn="ctr">
              <a:buNone/>
            </a:pPr>
            <a:r>
              <a:rPr lang="en-US" sz="1400" dirty="0">
                <a:solidFill>
                  <a:schemeClr val="tx1"/>
                </a:solidFill>
              </a:rPr>
              <a:t>image_key + processed_at keys, auto scaling 1 to 10 @ 70 %</a:t>
            </a:r>
            <a:endParaRPr lang="en-US" sz="1400" dirty="0"/>
          </a:p>
        </p:txBody>
      </p:sp>
      <p:sp>
        <p:nvSpPr>
          <p:cNvPr id="28" name="card"/>
          <p:cNvSpPr/>
          <p:nvPr/>
        </p:nvSpPr>
        <p:spPr>
          <a:xfrm>
            <a:off x="8503920" y="1508760"/>
            <a:ext cx="1517904" cy="4206240"/>
          </a:xfrm>
          <a:prstGeom prst="roundRect">
            <a:avLst>
              <a:gd name="adj" fmla="val 7229"/>
            </a:avLst>
          </a:prstGeom>
          <a:solidFill>
            <a:schemeClr val="bg2"/>
          </a:solidFill>
          <a:ln w="12700">
            <a:solidFill>
              <a:schemeClr val="bg2"/>
            </a:solidFill>
            <a:prstDash val="solid"/>
          </a:ln>
        </p:spPr>
        <p:txBody>
          <a:bodyPr/>
          <a:lstStyle/>
          <a:p>
            <a:endParaRPr lang="en-US"/>
          </a:p>
        </p:txBody>
      </p:sp>
      <p:sp>
        <p:nvSpPr>
          <p:cNvPr id="29" name="step-number"/>
          <p:cNvSpPr/>
          <p:nvPr/>
        </p:nvSpPr>
        <p:spPr>
          <a:xfrm>
            <a:off x="8897112" y="1828800"/>
            <a:ext cx="731520" cy="731520"/>
          </a:xfrm>
          <a:prstGeom prst="ellipse">
            <a:avLst/>
          </a:prstGeom>
          <a:solidFill>
            <a:schemeClr val="accent1"/>
          </a:solidFill>
          <a:ln w="12700">
            <a:solidFill>
              <a:schemeClr val="accent1"/>
            </a:solidFill>
            <a:prstDash val="solid"/>
          </a:ln>
        </p:spPr>
        <p:txBody>
          <a:bodyPr/>
          <a:lstStyle/>
          <a:p>
            <a:endParaRPr lang="en-US"/>
          </a:p>
        </p:txBody>
      </p:sp>
      <p:sp>
        <p:nvSpPr>
          <p:cNvPr id="30" name="Text 28"/>
          <p:cNvSpPr txBox="1"/>
          <p:nvPr/>
        </p:nvSpPr>
        <p:spPr>
          <a:xfrm>
            <a:off x="8897112" y="1828800"/>
            <a:ext cx="731520" cy="731520"/>
          </a:xfrm>
          <a:prstGeom prst="rect">
            <a:avLst/>
          </a:prstGeom>
          <a:noFill/>
          <a:ln/>
        </p:spPr>
        <p:txBody>
          <a:bodyPr wrap="square" lIns="0" tIns="0" rIns="0" bIns="0" rtlCol="0" anchor="ctr"/>
          <a:lstStyle/>
          <a:p>
            <a:pPr marL="0" indent="0" algn="ctr">
              <a:buNone/>
            </a:pPr>
            <a:r>
              <a:rPr lang="en-US" sz="2400" b="1" dirty="0">
                <a:solidFill>
                  <a:schemeClr val="bg1"/>
                </a:solidFill>
              </a:rPr>
              <a:t>6</a:t>
            </a:r>
            <a:endParaRPr lang="en-US" sz="2400" dirty="0"/>
          </a:p>
        </p:txBody>
      </p:sp>
      <p:sp>
        <p:nvSpPr>
          <p:cNvPr id="31" name="Text 29"/>
          <p:cNvSpPr txBox="1"/>
          <p:nvPr/>
        </p:nvSpPr>
        <p:spPr>
          <a:xfrm>
            <a:off x="8540496" y="2834640"/>
            <a:ext cx="1444752" cy="457200"/>
          </a:xfrm>
          <a:prstGeom prst="rect">
            <a:avLst/>
          </a:prstGeom>
          <a:noFill/>
          <a:ln/>
        </p:spPr>
        <p:txBody>
          <a:bodyPr wrap="square" lIns="0" tIns="0" rIns="0" bIns="0" rtlCol="0" anchor="t"/>
          <a:lstStyle/>
          <a:p>
            <a:pPr marL="0" indent="0" algn="ctr">
              <a:buNone/>
            </a:pPr>
            <a:r>
              <a:rPr lang="en-US" sz="1400" b="1" dirty="0">
                <a:solidFill>
                  <a:schemeClr val="tx2"/>
                </a:solidFill>
              </a:rPr>
              <a:t>API Gateway</a:t>
            </a:r>
            <a:endParaRPr lang="en-US" sz="1400" dirty="0"/>
          </a:p>
        </p:txBody>
      </p:sp>
      <p:sp>
        <p:nvSpPr>
          <p:cNvPr id="32" name="Text 30"/>
          <p:cNvSpPr txBox="1"/>
          <p:nvPr/>
        </p:nvSpPr>
        <p:spPr>
          <a:xfrm>
            <a:off x="8631936" y="3429000"/>
            <a:ext cx="1261872" cy="2194560"/>
          </a:xfrm>
          <a:prstGeom prst="rect">
            <a:avLst/>
          </a:prstGeom>
          <a:noFill/>
          <a:ln/>
        </p:spPr>
        <p:txBody>
          <a:bodyPr wrap="square" lIns="0" tIns="0" rIns="0" bIns="0" rtlCol="0" anchor="t"/>
          <a:lstStyle/>
          <a:p>
            <a:pPr marL="0" indent="0" algn="ctr">
              <a:buNone/>
            </a:pPr>
            <a:r>
              <a:rPr lang="en-US" sz="1400" dirty="0">
                <a:solidFill>
                  <a:schemeClr val="tx1"/>
                </a:solidFill>
              </a:rPr>
              <a:t>REST POST /detect, API key, usage plan, body validation, throttling</a:t>
            </a:r>
            <a:endParaRPr lang="en-US" sz="1400" dirty="0"/>
          </a:p>
        </p:txBody>
      </p:sp>
      <p:sp>
        <p:nvSpPr>
          <p:cNvPr id="33" name="card"/>
          <p:cNvSpPr/>
          <p:nvPr/>
        </p:nvSpPr>
        <p:spPr>
          <a:xfrm>
            <a:off x="10094976" y="1508760"/>
            <a:ext cx="1517904" cy="4206240"/>
          </a:xfrm>
          <a:prstGeom prst="roundRect">
            <a:avLst>
              <a:gd name="adj" fmla="val 7229"/>
            </a:avLst>
          </a:prstGeom>
          <a:solidFill>
            <a:srgbClr val="FFF4EA"/>
          </a:solidFill>
          <a:ln w="12700">
            <a:solidFill>
              <a:srgbClr val="FFF4EA"/>
            </a:solidFill>
            <a:prstDash val="solid"/>
          </a:ln>
        </p:spPr>
        <p:txBody>
          <a:bodyPr/>
          <a:lstStyle/>
          <a:p>
            <a:endParaRPr lang="en-US"/>
          </a:p>
        </p:txBody>
      </p:sp>
      <p:sp>
        <p:nvSpPr>
          <p:cNvPr id="34" name="step-number"/>
          <p:cNvSpPr/>
          <p:nvPr/>
        </p:nvSpPr>
        <p:spPr>
          <a:xfrm>
            <a:off x="10488168" y="1828800"/>
            <a:ext cx="731520" cy="731520"/>
          </a:xfrm>
          <a:prstGeom prst="ellipse">
            <a:avLst/>
          </a:prstGeom>
          <a:solidFill>
            <a:schemeClr val="accent1"/>
          </a:solidFill>
          <a:ln w="12700">
            <a:solidFill>
              <a:schemeClr val="accent1"/>
            </a:solidFill>
            <a:prstDash val="solid"/>
          </a:ln>
        </p:spPr>
        <p:txBody>
          <a:bodyPr/>
          <a:lstStyle/>
          <a:p>
            <a:endParaRPr lang="en-US"/>
          </a:p>
        </p:txBody>
      </p:sp>
      <p:sp>
        <p:nvSpPr>
          <p:cNvPr id="35" name="Text 33"/>
          <p:cNvSpPr txBox="1"/>
          <p:nvPr/>
        </p:nvSpPr>
        <p:spPr>
          <a:xfrm>
            <a:off x="10488168" y="1828800"/>
            <a:ext cx="731520" cy="731520"/>
          </a:xfrm>
          <a:prstGeom prst="rect">
            <a:avLst/>
          </a:prstGeom>
          <a:noFill/>
          <a:ln/>
        </p:spPr>
        <p:txBody>
          <a:bodyPr wrap="square" lIns="0" tIns="0" rIns="0" bIns="0" rtlCol="0" anchor="ctr"/>
          <a:lstStyle/>
          <a:p>
            <a:pPr marL="0" indent="0" algn="ctr">
              <a:buNone/>
            </a:pPr>
            <a:r>
              <a:rPr lang="en-US" sz="2400" b="1" dirty="0">
                <a:solidFill>
                  <a:schemeClr val="bg1"/>
                </a:solidFill>
              </a:rPr>
              <a:t>7</a:t>
            </a:r>
            <a:endParaRPr lang="en-US" sz="2400" dirty="0"/>
          </a:p>
        </p:txBody>
      </p:sp>
      <p:sp>
        <p:nvSpPr>
          <p:cNvPr id="36" name="Text 34"/>
          <p:cNvSpPr txBox="1"/>
          <p:nvPr/>
        </p:nvSpPr>
        <p:spPr>
          <a:xfrm>
            <a:off x="10131552" y="2834640"/>
            <a:ext cx="1444752" cy="457200"/>
          </a:xfrm>
          <a:prstGeom prst="rect">
            <a:avLst/>
          </a:prstGeom>
          <a:noFill/>
          <a:ln/>
        </p:spPr>
        <p:txBody>
          <a:bodyPr wrap="square" lIns="0" tIns="0" rIns="0" bIns="0" rtlCol="0" anchor="t"/>
          <a:lstStyle/>
          <a:p>
            <a:pPr marL="0" indent="0" algn="ctr">
              <a:buNone/>
            </a:pPr>
            <a:r>
              <a:rPr lang="en-US" sz="1400" b="1" dirty="0">
                <a:solidFill>
                  <a:schemeClr val="tx2"/>
                </a:solidFill>
              </a:rPr>
              <a:t>CloudFormation</a:t>
            </a:r>
            <a:endParaRPr lang="en-US" sz="1400" dirty="0"/>
          </a:p>
        </p:txBody>
      </p:sp>
      <p:sp>
        <p:nvSpPr>
          <p:cNvPr id="37" name="Text 35"/>
          <p:cNvSpPr txBox="1"/>
          <p:nvPr/>
        </p:nvSpPr>
        <p:spPr>
          <a:xfrm>
            <a:off x="10222992" y="3429000"/>
            <a:ext cx="1261872" cy="2194560"/>
          </a:xfrm>
          <a:prstGeom prst="rect">
            <a:avLst/>
          </a:prstGeom>
          <a:noFill/>
          <a:ln/>
        </p:spPr>
        <p:txBody>
          <a:bodyPr wrap="square" lIns="0" tIns="0" rIns="0" bIns="0" rtlCol="0" anchor="t"/>
          <a:lstStyle/>
          <a:p>
            <a:pPr marL="0" indent="0" algn="ctr">
              <a:buNone/>
            </a:pPr>
            <a:r>
              <a:rPr lang="en-US" sz="1400" dirty="0">
                <a:solidFill>
                  <a:schemeClr val="tx1"/>
                </a:solidFill>
              </a:rPr>
              <a:t>template.yaml: 21 resources, one command, tested end to end</a:t>
            </a:r>
            <a:endParaRPr lang="en-US" sz="1400" dirty="0"/>
          </a:p>
        </p:txBody>
      </p:sp>
      <p:sp>
        <p:nvSpPr>
          <p:cNvPr id="38"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57855"/>
    </mc:Choice>
    <mc:Fallback xmlns="">
      <p:transition spd="slow" advTm="5785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Output: the pipeline works end to end</a:t>
            </a:r>
            <a:endParaRPr lang="en-US" sz="3200" dirty="0"/>
          </a:p>
        </p:txBody>
      </p:sp>
      <p:pic>
        <p:nvPicPr>
          <p:cNvPr id="3" name="4-2-annotated.png" descr="Annotated airplane"/>
          <p:cNvPicPr>
            <a:picLocks noChangeAspect="1"/>
          </p:cNvPicPr>
          <p:nvPr/>
        </p:nvPicPr>
        <p:blipFill>
          <a:blip r:embed="rId3"/>
          <a:stretch>
            <a:fillRect/>
          </a:stretch>
        </p:blipFill>
        <p:spPr>
          <a:xfrm>
            <a:off x="548640" y="1356221"/>
            <a:ext cx="4206240" cy="2682518"/>
          </a:xfrm>
          <a:prstGeom prst="rect">
            <a:avLst/>
          </a:prstGeom>
          <a:effectLst>
            <a:outerShdw blurRad="76200" dist="25400" dir="5400000" algn="bl" rotWithShape="0">
              <a:srgbClr val="000000">
                <a:alpha val="18000"/>
              </a:srgbClr>
            </a:outerShdw>
          </a:effectLst>
        </p:spPr>
      </p:pic>
      <p:sp>
        <p:nvSpPr>
          <p:cNvPr id="4" name="Text 1"/>
          <p:cNvSpPr txBox="1"/>
          <p:nvPr/>
        </p:nvSpPr>
        <p:spPr>
          <a:xfrm>
            <a:off x="548640" y="4160520"/>
            <a:ext cx="4206240" cy="274320"/>
          </a:xfrm>
          <a:prstGeom prst="rect">
            <a:avLst/>
          </a:prstGeom>
          <a:noFill/>
          <a:ln/>
        </p:spPr>
        <p:txBody>
          <a:bodyPr wrap="square" lIns="0" tIns="0" rIns="0" bIns="0" rtlCol="0" anchor="t"/>
          <a:lstStyle/>
          <a:p>
            <a:pPr marL="0" indent="0" algn="ctr">
              <a:buNone/>
            </a:pPr>
            <a:r>
              <a:rPr lang="en-US" sz="1200" dirty="0">
                <a:solidFill>
                  <a:schemeClr val="accent5"/>
                </a:solidFill>
              </a:rPr>
              <a:t>Annotated image saved in S3 by Lambda</a:t>
            </a:r>
            <a:endParaRPr lang="en-US" sz="1200" dirty="0"/>
          </a:p>
        </p:txBody>
      </p:sp>
      <p:pic>
        <p:nvPicPr>
          <p:cNvPr id="5" name="4-2-result-json.png" descr="Result JSON"/>
          <p:cNvPicPr>
            <a:picLocks noChangeAspect="1"/>
          </p:cNvPicPr>
          <p:nvPr/>
        </p:nvPicPr>
        <p:blipFill>
          <a:blip r:embed="rId4"/>
          <a:stretch>
            <a:fillRect/>
          </a:stretch>
        </p:blipFill>
        <p:spPr>
          <a:xfrm>
            <a:off x="4983480" y="1736045"/>
            <a:ext cx="2606040" cy="1922871"/>
          </a:xfrm>
          <a:prstGeom prst="rect">
            <a:avLst/>
          </a:prstGeom>
          <a:effectLst>
            <a:outerShdw blurRad="76200" dist="25400" dir="5400000" algn="bl" rotWithShape="0">
              <a:srgbClr val="000000">
                <a:alpha val="18000"/>
              </a:srgbClr>
            </a:outerShdw>
          </a:effectLst>
        </p:spPr>
      </p:pic>
      <p:sp>
        <p:nvSpPr>
          <p:cNvPr id="6" name="Text 2"/>
          <p:cNvSpPr txBox="1"/>
          <p:nvPr/>
        </p:nvSpPr>
        <p:spPr>
          <a:xfrm>
            <a:off x="4983480" y="4160520"/>
            <a:ext cx="2606040" cy="274320"/>
          </a:xfrm>
          <a:prstGeom prst="rect">
            <a:avLst/>
          </a:prstGeom>
          <a:noFill/>
          <a:ln/>
        </p:spPr>
        <p:txBody>
          <a:bodyPr wrap="square" lIns="0" tIns="0" rIns="0" bIns="0" rtlCol="0" anchor="t"/>
          <a:lstStyle/>
          <a:p>
            <a:pPr marL="0" indent="0" algn="ctr">
              <a:buNone/>
            </a:pPr>
            <a:r>
              <a:rPr lang="en-US" sz="1200" dirty="0">
                <a:solidFill>
                  <a:schemeClr val="accent5"/>
                </a:solidFill>
              </a:rPr>
              <a:t>Full JSON result in S3</a:t>
            </a:r>
            <a:endParaRPr lang="en-US" sz="1200" dirty="0"/>
          </a:p>
        </p:txBody>
      </p:sp>
      <p:pic>
        <p:nvPicPr>
          <p:cNvPr id="7" name="4-2-dynamodb-items.png" descr="DynamoDB items"/>
          <p:cNvPicPr>
            <a:picLocks noChangeAspect="1"/>
          </p:cNvPicPr>
          <p:nvPr/>
        </p:nvPicPr>
        <p:blipFill>
          <a:blip r:embed="rId5"/>
          <a:stretch>
            <a:fillRect/>
          </a:stretch>
        </p:blipFill>
        <p:spPr>
          <a:xfrm>
            <a:off x="2349318" y="4572000"/>
            <a:ext cx="3439524" cy="1463040"/>
          </a:xfrm>
          <a:prstGeom prst="rect">
            <a:avLst/>
          </a:prstGeom>
          <a:effectLst>
            <a:outerShdw blurRad="76200" dist="25400" dir="5400000" algn="bl" rotWithShape="0">
              <a:srgbClr val="000000">
                <a:alpha val="18000"/>
              </a:srgbClr>
            </a:outerShdw>
          </a:effectLst>
        </p:spPr>
      </p:pic>
      <p:sp>
        <p:nvSpPr>
          <p:cNvPr id="8" name="Text 3"/>
          <p:cNvSpPr txBox="1"/>
          <p:nvPr/>
        </p:nvSpPr>
        <p:spPr>
          <a:xfrm>
            <a:off x="548640" y="6080760"/>
            <a:ext cx="7040880" cy="274320"/>
          </a:xfrm>
          <a:prstGeom prst="rect">
            <a:avLst/>
          </a:prstGeom>
          <a:noFill/>
          <a:ln/>
        </p:spPr>
        <p:txBody>
          <a:bodyPr wrap="square" lIns="0" tIns="0" rIns="0" bIns="0" rtlCol="0" anchor="t"/>
          <a:lstStyle/>
          <a:p>
            <a:pPr marL="0" indent="0" algn="ctr">
              <a:buNone/>
            </a:pPr>
            <a:r>
              <a:rPr lang="en-US" sz="1200" dirty="0">
                <a:solidFill>
                  <a:schemeClr val="accent5"/>
                </a:solidFill>
              </a:rPr>
              <a:t>Summary items in DynamoDB (cold_start true / false)</a:t>
            </a:r>
            <a:endParaRPr lang="en-US" sz="1200" dirty="0"/>
          </a:p>
        </p:txBody>
      </p:sp>
      <p:sp>
        <p:nvSpPr>
          <p:cNvPr id="9" name="card"/>
          <p:cNvSpPr/>
          <p:nvPr/>
        </p:nvSpPr>
        <p:spPr>
          <a:xfrm>
            <a:off x="7863840" y="1325880"/>
            <a:ext cx="3749040" cy="4983480"/>
          </a:xfrm>
          <a:prstGeom prst="roundRect">
            <a:avLst>
              <a:gd name="adj" fmla="val 2927"/>
            </a:avLst>
          </a:prstGeom>
          <a:solidFill>
            <a:schemeClr val="bg2"/>
          </a:solidFill>
          <a:ln w="12700">
            <a:solidFill>
              <a:schemeClr val="bg2"/>
            </a:solidFill>
            <a:prstDash val="solid"/>
          </a:ln>
        </p:spPr>
        <p:txBody>
          <a:bodyPr/>
          <a:lstStyle/>
          <a:p>
            <a:endParaRPr lang="en-US"/>
          </a:p>
        </p:txBody>
      </p:sp>
      <p:sp>
        <p:nvSpPr>
          <p:cNvPr id="10" name="Text 5"/>
          <p:cNvSpPr txBox="1"/>
          <p:nvPr/>
        </p:nvSpPr>
        <p:spPr>
          <a:xfrm>
            <a:off x="8138160" y="1508760"/>
            <a:ext cx="3291840" cy="868680"/>
          </a:xfrm>
          <a:prstGeom prst="rect">
            <a:avLst/>
          </a:prstGeom>
          <a:noFill/>
          <a:ln/>
        </p:spPr>
        <p:txBody>
          <a:bodyPr wrap="square" lIns="0" tIns="0" rIns="0" bIns="0" rtlCol="0" anchor="t"/>
          <a:lstStyle/>
          <a:p>
            <a:pPr marL="0" indent="0">
              <a:buNone/>
            </a:pPr>
            <a:r>
              <a:rPr lang="en-US" sz="4800" b="1" dirty="0">
                <a:solidFill>
                  <a:schemeClr val="accent1"/>
                </a:solidFill>
                <a:latin typeface="Calibri" pitchFamily="34" charset="0"/>
                <a:ea typeface="Calibri" pitchFamily="34" charset="-122"/>
                <a:cs typeface="Calibri" pitchFamily="34" charset="-120"/>
              </a:rPr>
              <a:t>0.4 s</a:t>
            </a:r>
            <a:endParaRPr lang="en-US" sz="4800" dirty="0"/>
          </a:p>
        </p:txBody>
      </p:sp>
      <p:sp>
        <p:nvSpPr>
          <p:cNvPr id="11" name="Text 6"/>
          <p:cNvSpPr txBox="1"/>
          <p:nvPr/>
        </p:nvSpPr>
        <p:spPr>
          <a:xfrm>
            <a:off x="8138160" y="2377440"/>
            <a:ext cx="3291840" cy="548640"/>
          </a:xfrm>
          <a:prstGeom prst="rect">
            <a:avLst/>
          </a:prstGeom>
          <a:noFill/>
          <a:ln/>
        </p:spPr>
        <p:txBody>
          <a:bodyPr wrap="square" lIns="0" tIns="0" rIns="0" bIns="0" rtlCol="0" anchor="t"/>
          <a:lstStyle/>
          <a:p>
            <a:pPr marL="0" indent="0">
              <a:buNone/>
            </a:pPr>
            <a:r>
              <a:rPr lang="en-US" sz="1400" dirty="0">
                <a:solidFill>
                  <a:schemeClr val="accent5"/>
                </a:solidFill>
              </a:rPr>
              <a:t>warm request, end to end via the API</a:t>
            </a:r>
            <a:endParaRPr lang="en-US" sz="1400" dirty="0"/>
          </a:p>
        </p:txBody>
      </p:sp>
      <p:sp>
        <p:nvSpPr>
          <p:cNvPr id="12" name="Text 7"/>
          <p:cNvSpPr txBox="1"/>
          <p:nvPr/>
        </p:nvSpPr>
        <p:spPr>
          <a:xfrm>
            <a:off x="8138160" y="3017520"/>
            <a:ext cx="3291840" cy="868680"/>
          </a:xfrm>
          <a:prstGeom prst="rect">
            <a:avLst/>
          </a:prstGeom>
          <a:noFill/>
          <a:ln/>
        </p:spPr>
        <p:txBody>
          <a:bodyPr wrap="square" lIns="0" tIns="0" rIns="0" bIns="0" rtlCol="0" anchor="t"/>
          <a:lstStyle/>
          <a:p>
            <a:pPr marL="0" indent="0">
              <a:buNone/>
            </a:pPr>
            <a:r>
              <a:rPr lang="en-US" sz="4800" b="1" dirty="0">
                <a:solidFill>
                  <a:schemeClr val="accent2"/>
                </a:solidFill>
                <a:latin typeface="Calibri" pitchFamily="34" charset="0"/>
                <a:ea typeface="Calibri" pitchFamily="34" charset="-122"/>
                <a:cs typeface="Calibri" pitchFamily="34" charset="-120"/>
              </a:rPr>
              <a:t>185 ms</a:t>
            </a:r>
            <a:endParaRPr lang="en-US" sz="4800" dirty="0"/>
          </a:p>
        </p:txBody>
      </p:sp>
      <p:sp>
        <p:nvSpPr>
          <p:cNvPr id="13" name="Text 8"/>
          <p:cNvSpPr txBox="1"/>
          <p:nvPr/>
        </p:nvSpPr>
        <p:spPr>
          <a:xfrm>
            <a:off x="8138160" y="3886200"/>
            <a:ext cx="3291840" cy="548640"/>
          </a:xfrm>
          <a:prstGeom prst="rect">
            <a:avLst/>
          </a:prstGeom>
          <a:noFill/>
          <a:ln/>
        </p:spPr>
        <p:txBody>
          <a:bodyPr wrap="square" lIns="0" tIns="0" rIns="0" bIns="0" rtlCol="0" anchor="t"/>
          <a:lstStyle/>
          <a:p>
            <a:pPr marL="0" indent="0">
              <a:buNone/>
            </a:pPr>
            <a:r>
              <a:rPr lang="en-US" sz="1400" dirty="0">
                <a:solidFill>
                  <a:schemeClr val="accent5"/>
                </a:solidFill>
              </a:rPr>
              <a:t>YOLOv5s inference on Lambda (115 ms on EC2)</a:t>
            </a:r>
            <a:endParaRPr lang="en-US" sz="1400" dirty="0"/>
          </a:p>
        </p:txBody>
      </p:sp>
      <p:sp>
        <p:nvSpPr>
          <p:cNvPr id="14" name="Text 9"/>
          <p:cNvSpPr txBox="1"/>
          <p:nvPr/>
        </p:nvSpPr>
        <p:spPr>
          <a:xfrm>
            <a:off x="8138160" y="4526280"/>
            <a:ext cx="3291840" cy="868680"/>
          </a:xfrm>
          <a:prstGeom prst="rect">
            <a:avLst/>
          </a:prstGeom>
          <a:noFill/>
          <a:ln/>
        </p:spPr>
        <p:txBody>
          <a:bodyPr wrap="square" lIns="0" tIns="0" rIns="0" bIns="0" rtlCol="0" anchor="t"/>
          <a:lstStyle/>
          <a:p>
            <a:pPr marL="0" indent="0">
              <a:buNone/>
            </a:pPr>
            <a:r>
              <a:rPr lang="en-US" sz="4800" b="1" dirty="0">
                <a:solidFill>
                  <a:schemeClr val="accent3"/>
                </a:solidFill>
                <a:latin typeface="Calibri" pitchFamily="34" charset="0"/>
                <a:ea typeface="Calibri" pitchFamily="34" charset="-122"/>
                <a:cs typeface="Calibri" pitchFamily="34" charset="-120"/>
              </a:rPr>
              <a:t>80</a:t>
            </a:r>
            <a:endParaRPr lang="en-US" sz="4800" dirty="0"/>
          </a:p>
        </p:txBody>
      </p:sp>
      <p:sp>
        <p:nvSpPr>
          <p:cNvPr id="15" name="Text 10"/>
          <p:cNvSpPr txBox="1"/>
          <p:nvPr/>
        </p:nvSpPr>
        <p:spPr>
          <a:xfrm>
            <a:off x="8138160" y="5394960"/>
            <a:ext cx="3291840" cy="548640"/>
          </a:xfrm>
          <a:prstGeom prst="rect">
            <a:avLst/>
          </a:prstGeom>
          <a:noFill/>
          <a:ln/>
        </p:spPr>
        <p:txBody>
          <a:bodyPr wrap="square" lIns="0" tIns="0" rIns="0" bIns="0" rtlCol="0" anchor="t"/>
          <a:lstStyle/>
          <a:p>
            <a:pPr marL="0" indent="0">
              <a:buNone/>
            </a:pPr>
            <a:r>
              <a:rPr lang="en-US" sz="1400" dirty="0">
                <a:solidFill>
                  <a:schemeClr val="accent5"/>
                </a:solidFill>
              </a:rPr>
              <a:t>COCO classes, e.g. 10 persons, 4 cups and 2 pizzas in one image</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42608"/>
    </mc:Choice>
    <mc:Fallback xmlns="">
      <p:transition spd="slow" advTm="4260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Security and functional tests: 8 out of 8 passed</a:t>
            </a:r>
            <a:endParaRPr lang="en-US" sz="3200" dirty="0"/>
          </a:p>
        </p:txBody>
      </p:sp>
      <p:sp>
        <p:nvSpPr>
          <p:cNvPr id="3" name="icon-circle"/>
          <p:cNvSpPr/>
          <p:nvPr/>
        </p:nvSpPr>
        <p:spPr>
          <a:xfrm>
            <a:off x="548640" y="1325880"/>
            <a:ext cx="685800" cy="685800"/>
          </a:xfrm>
          <a:prstGeom prst="ellipse">
            <a:avLst/>
          </a:prstGeom>
          <a:solidFill>
            <a:schemeClr val="accent3"/>
          </a:solidFill>
          <a:ln w="12700">
            <a:solidFill>
              <a:schemeClr val="accent3"/>
            </a:solidFill>
            <a:prstDash val="solid"/>
          </a:ln>
        </p:spPr>
        <p:txBody>
          <a:bodyPr/>
          <a:lstStyle/>
          <a:p>
            <a:endParaRPr lang="en-US"/>
          </a:p>
        </p:txBody>
      </p:sp>
      <p:pic>
        <p:nvPicPr>
          <p:cNvPr id="4" name="icon" descr="preencoded.png"/>
          <p:cNvPicPr>
            <a:picLocks noChangeAspect="1"/>
          </p:cNvPicPr>
          <p:nvPr/>
        </p:nvPicPr>
        <p:blipFill>
          <a:blip r:embed="rId3"/>
          <a:stretch>
            <a:fillRect/>
          </a:stretch>
        </p:blipFill>
        <p:spPr>
          <a:xfrm>
            <a:off x="713232" y="1490472"/>
            <a:ext cx="356616" cy="356616"/>
          </a:xfrm>
          <a:prstGeom prst="rect">
            <a:avLst/>
          </a:prstGeom>
        </p:spPr>
      </p:pic>
      <p:sp>
        <p:nvSpPr>
          <p:cNvPr id="5" name="Text 2"/>
          <p:cNvSpPr txBox="1"/>
          <p:nvPr/>
        </p:nvSpPr>
        <p:spPr>
          <a:xfrm>
            <a:off x="1417320" y="1307592"/>
            <a:ext cx="4206240" cy="365760"/>
          </a:xfrm>
          <a:prstGeom prst="rect">
            <a:avLst/>
          </a:prstGeom>
          <a:noFill/>
          <a:ln/>
        </p:spPr>
        <p:txBody>
          <a:bodyPr wrap="square" lIns="0" tIns="0" rIns="0" bIns="0" rtlCol="0" anchor="t"/>
          <a:lstStyle/>
          <a:p>
            <a:pPr marL="0" indent="0">
              <a:buNone/>
            </a:pPr>
            <a:r>
              <a:rPr lang="en-US" sz="1700" b="1" dirty="0">
                <a:solidFill>
                  <a:schemeClr val="tx2"/>
                </a:solidFill>
              </a:rPr>
              <a:t>API key + usage plan</a:t>
            </a:r>
            <a:endParaRPr lang="en-US" sz="1700" dirty="0"/>
          </a:p>
        </p:txBody>
      </p:sp>
      <p:sp>
        <p:nvSpPr>
          <p:cNvPr id="6" name="Text 3"/>
          <p:cNvSpPr txBox="1"/>
          <p:nvPr/>
        </p:nvSpPr>
        <p:spPr>
          <a:xfrm>
            <a:off x="1417320" y="1673352"/>
            <a:ext cx="4206240" cy="777240"/>
          </a:xfrm>
          <a:prstGeom prst="rect">
            <a:avLst/>
          </a:prstGeom>
          <a:noFill/>
          <a:ln/>
        </p:spPr>
        <p:txBody>
          <a:bodyPr wrap="square" lIns="0" tIns="0" rIns="0" bIns="0" rtlCol="0" anchor="t"/>
          <a:lstStyle/>
          <a:p>
            <a:pPr marL="0" indent="0">
              <a:buNone/>
            </a:pPr>
            <a:r>
              <a:rPr lang="en-US" sz="1400" dirty="0">
                <a:solidFill>
                  <a:schemeClr val="tx1"/>
                </a:solidFill>
              </a:rPr>
              <a:t>No key or wrong key: 403 at API Gateway (about 80 ms). 5 requests/s, 1,000 per day.</a:t>
            </a:r>
            <a:endParaRPr lang="en-US" sz="1400" dirty="0"/>
          </a:p>
        </p:txBody>
      </p:sp>
      <p:sp>
        <p:nvSpPr>
          <p:cNvPr id="7" name="icon-circle"/>
          <p:cNvSpPr/>
          <p:nvPr/>
        </p:nvSpPr>
        <p:spPr>
          <a:xfrm>
            <a:off x="548640" y="2542032"/>
            <a:ext cx="685800" cy="685800"/>
          </a:xfrm>
          <a:prstGeom prst="ellipse">
            <a:avLst/>
          </a:prstGeom>
          <a:solidFill>
            <a:schemeClr val="accent4"/>
          </a:solidFill>
          <a:ln w="12700">
            <a:solidFill>
              <a:schemeClr val="accent4"/>
            </a:solidFill>
            <a:prstDash val="solid"/>
          </a:ln>
        </p:spPr>
        <p:txBody>
          <a:bodyPr/>
          <a:lstStyle/>
          <a:p>
            <a:endParaRPr lang="en-US"/>
          </a:p>
        </p:txBody>
      </p:sp>
      <p:pic>
        <p:nvPicPr>
          <p:cNvPr id="8" name="icon" descr="preencoded.png"/>
          <p:cNvPicPr>
            <a:picLocks noChangeAspect="1"/>
          </p:cNvPicPr>
          <p:nvPr/>
        </p:nvPicPr>
        <p:blipFill>
          <a:blip r:embed="rId4"/>
          <a:stretch>
            <a:fillRect/>
          </a:stretch>
        </p:blipFill>
        <p:spPr>
          <a:xfrm>
            <a:off x="713232" y="2706624"/>
            <a:ext cx="356616" cy="356616"/>
          </a:xfrm>
          <a:prstGeom prst="rect">
            <a:avLst/>
          </a:prstGeom>
        </p:spPr>
      </p:pic>
      <p:sp>
        <p:nvSpPr>
          <p:cNvPr id="9" name="Text 5"/>
          <p:cNvSpPr txBox="1"/>
          <p:nvPr/>
        </p:nvSpPr>
        <p:spPr>
          <a:xfrm>
            <a:off x="1417320" y="2523744"/>
            <a:ext cx="4206240" cy="365760"/>
          </a:xfrm>
          <a:prstGeom prst="rect">
            <a:avLst/>
          </a:prstGeom>
          <a:noFill/>
          <a:ln/>
        </p:spPr>
        <p:txBody>
          <a:bodyPr wrap="square" lIns="0" tIns="0" rIns="0" bIns="0" rtlCol="0" anchor="t"/>
          <a:lstStyle/>
          <a:p>
            <a:pPr marL="0" indent="0">
              <a:buNone/>
            </a:pPr>
            <a:r>
              <a:rPr lang="en-US" sz="1700" b="1" dirty="0">
                <a:solidFill>
                  <a:schemeClr val="tx2"/>
                </a:solidFill>
              </a:rPr>
              <a:t>Request validation</a:t>
            </a:r>
            <a:endParaRPr lang="en-US" sz="1700" dirty="0"/>
          </a:p>
        </p:txBody>
      </p:sp>
      <p:sp>
        <p:nvSpPr>
          <p:cNvPr id="10" name="Text 6"/>
          <p:cNvSpPr txBox="1"/>
          <p:nvPr/>
        </p:nvSpPr>
        <p:spPr>
          <a:xfrm>
            <a:off x="1417320" y="2889504"/>
            <a:ext cx="4206240" cy="777240"/>
          </a:xfrm>
          <a:prstGeom prst="rect">
            <a:avLst/>
          </a:prstGeom>
          <a:noFill/>
          <a:ln/>
        </p:spPr>
        <p:txBody>
          <a:bodyPr wrap="square" lIns="0" tIns="0" rIns="0" bIns="0" rtlCol="0" anchor="t"/>
          <a:lstStyle/>
          <a:p>
            <a:pPr marL="0" indent="0">
              <a:buNone/>
            </a:pPr>
            <a:r>
              <a:rPr lang="en-US" sz="1400" dirty="0">
                <a:solidFill>
                  <a:schemeClr val="tx1"/>
                </a:solidFill>
              </a:rPr>
              <a:t>Missing field or invalid JSON: 400 from the gateway, Lambda is never called.</a:t>
            </a:r>
            <a:endParaRPr lang="en-US" sz="1400" dirty="0"/>
          </a:p>
        </p:txBody>
      </p:sp>
      <p:sp>
        <p:nvSpPr>
          <p:cNvPr id="11" name="icon-circle"/>
          <p:cNvSpPr/>
          <p:nvPr/>
        </p:nvSpPr>
        <p:spPr>
          <a:xfrm>
            <a:off x="548640" y="3758184"/>
            <a:ext cx="685800" cy="685800"/>
          </a:xfrm>
          <a:prstGeom prst="ellipse">
            <a:avLst/>
          </a:prstGeom>
          <a:solidFill>
            <a:schemeClr val="accent1"/>
          </a:solidFill>
          <a:ln w="12700">
            <a:solidFill>
              <a:schemeClr val="accent1"/>
            </a:solidFill>
            <a:prstDash val="solid"/>
          </a:ln>
        </p:spPr>
        <p:txBody>
          <a:bodyPr/>
          <a:lstStyle/>
          <a:p>
            <a:endParaRPr lang="en-US"/>
          </a:p>
        </p:txBody>
      </p:sp>
      <p:pic>
        <p:nvPicPr>
          <p:cNvPr id="12" name="icon" descr="preencoded.png"/>
          <p:cNvPicPr>
            <a:picLocks noChangeAspect="1"/>
          </p:cNvPicPr>
          <p:nvPr/>
        </p:nvPicPr>
        <p:blipFill>
          <a:blip r:embed="rId5"/>
          <a:stretch>
            <a:fillRect/>
          </a:stretch>
        </p:blipFill>
        <p:spPr>
          <a:xfrm>
            <a:off x="713232" y="3922776"/>
            <a:ext cx="356616" cy="356616"/>
          </a:xfrm>
          <a:prstGeom prst="rect">
            <a:avLst/>
          </a:prstGeom>
        </p:spPr>
      </p:pic>
      <p:sp>
        <p:nvSpPr>
          <p:cNvPr id="13" name="Text 8"/>
          <p:cNvSpPr txBox="1"/>
          <p:nvPr/>
        </p:nvSpPr>
        <p:spPr>
          <a:xfrm>
            <a:off x="1417320" y="3739896"/>
            <a:ext cx="4206240" cy="365760"/>
          </a:xfrm>
          <a:prstGeom prst="rect">
            <a:avLst/>
          </a:prstGeom>
          <a:noFill/>
          <a:ln/>
        </p:spPr>
        <p:txBody>
          <a:bodyPr wrap="square" lIns="0" tIns="0" rIns="0" bIns="0" rtlCol="0" anchor="t"/>
          <a:lstStyle/>
          <a:p>
            <a:pPr marL="0" indent="0">
              <a:buNone/>
            </a:pPr>
            <a:r>
              <a:rPr lang="en-US" sz="1700" b="1" dirty="0">
                <a:solidFill>
                  <a:schemeClr val="tx2"/>
                </a:solidFill>
              </a:rPr>
              <a:t>Validation in Lambda</a:t>
            </a:r>
            <a:endParaRPr lang="en-US" sz="1700" dirty="0"/>
          </a:p>
        </p:txBody>
      </p:sp>
      <p:sp>
        <p:nvSpPr>
          <p:cNvPr id="14" name="Text 9"/>
          <p:cNvSpPr txBox="1"/>
          <p:nvPr/>
        </p:nvSpPr>
        <p:spPr>
          <a:xfrm>
            <a:off x="1417320" y="4105656"/>
            <a:ext cx="4206240" cy="777240"/>
          </a:xfrm>
          <a:prstGeom prst="rect">
            <a:avLst/>
          </a:prstGeom>
          <a:noFill/>
          <a:ln/>
        </p:spPr>
        <p:txBody>
          <a:bodyPr wrap="square" lIns="0" tIns="0" rIns="0" bIns="0" rtlCol="0" anchor="t"/>
          <a:lstStyle/>
          <a:p>
            <a:pPr marL="0" indent="0">
              <a:buNone/>
            </a:pPr>
            <a:r>
              <a:rPr lang="en-US" sz="1400" dirty="0">
                <a:solidFill>
                  <a:schemeClr val="tx1"/>
                </a:solidFill>
              </a:rPr>
              <a:t>Only my input bucket and image files; missing image gives 404, not a crash.</a:t>
            </a:r>
            <a:endParaRPr lang="en-US" sz="1400" dirty="0"/>
          </a:p>
        </p:txBody>
      </p:sp>
      <p:sp>
        <p:nvSpPr>
          <p:cNvPr id="15" name="icon-circle"/>
          <p:cNvSpPr/>
          <p:nvPr/>
        </p:nvSpPr>
        <p:spPr>
          <a:xfrm>
            <a:off x="548640" y="4974336"/>
            <a:ext cx="685800" cy="685800"/>
          </a:xfrm>
          <a:prstGeom prst="ellipse">
            <a:avLst/>
          </a:prstGeom>
          <a:solidFill>
            <a:schemeClr val="accent2"/>
          </a:solidFill>
          <a:ln w="12700">
            <a:solidFill>
              <a:schemeClr val="accent2"/>
            </a:solidFill>
            <a:prstDash val="solid"/>
          </a:ln>
        </p:spPr>
        <p:txBody>
          <a:bodyPr/>
          <a:lstStyle/>
          <a:p>
            <a:endParaRPr lang="en-US"/>
          </a:p>
        </p:txBody>
      </p:sp>
      <p:pic>
        <p:nvPicPr>
          <p:cNvPr id="16" name="icon" descr="preencoded.png"/>
          <p:cNvPicPr>
            <a:picLocks noChangeAspect="1"/>
          </p:cNvPicPr>
          <p:nvPr/>
        </p:nvPicPr>
        <p:blipFill>
          <a:blip r:embed="rId6"/>
          <a:stretch>
            <a:fillRect/>
          </a:stretch>
        </p:blipFill>
        <p:spPr>
          <a:xfrm>
            <a:off x="713232" y="5138928"/>
            <a:ext cx="356616" cy="356616"/>
          </a:xfrm>
          <a:prstGeom prst="rect">
            <a:avLst/>
          </a:prstGeom>
        </p:spPr>
      </p:pic>
      <p:sp>
        <p:nvSpPr>
          <p:cNvPr id="17" name="Text 11"/>
          <p:cNvSpPr txBox="1"/>
          <p:nvPr/>
        </p:nvSpPr>
        <p:spPr>
          <a:xfrm>
            <a:off x="1417320" y="4956048"/>
            <a:ext cx="4206240" cy="365760"/>
          </a:xfrm>
          <a:prstGeom prst="rect">
            <a:avLst/>
          </a:prstGeom>
          <a:noFill/>
          <a:ln/>
        </p:spPr>
        <p:txBody>
          <a:bodyPr wrap="square" lIns="0" tIns="0" rIns="0" bIns="0" rtlCol="0" anchor="t"/>
          <a:lstStyle/>
          <a:p>
            <a:pPr marL="0" indent="0">
              <a:buNone/>
            </a:pPr>
            <a:r>
              <a:rPr lang="en-US" sz="1700" b="1" dirty="0">
                <a:solidFill>
                  <a:schemeClr val="tx2"/>
                </a:solidFill>
              </a:rPr>
              <a:t>Least privilege + private data</a:t>
            </a:r>
            <a:endParaRPr lang="en-US" sz="1700" dirty="0"/>
          </a:p>
        </p:txBody>
      </p:sp>
      <p:sp>
        <p:nvSpPr>
          <p:cNvPr id="18" name="Text 12"/>
          <p:cNvSpPr txBox="1"/>
          <p:nvPr/>
        </p:nvSpPr>
        <p:spPr>
          <a:xfrm>
            <a:off x="1417320" y="5321808"/>
            <a:ext cx="4206240" cy="777240"/>
          </a:xfrm>
          <a:prstGeom prst="rect">
            <a:avLst/>
          </a:prstGeom>
          <a:noFill/>
          <a:ln/>
        </p:spPr>
        <p:txBody>
          <a:bodyPr wrap="square" lIns="0" tIns="0" rIns="0" bIns="0" rtlCol="0" anchor="t"/>
          <a:lstStyle/>
          <a:p>
            <a:pPr marL="0" indent="0">
              <a:buNone/>
            </a:pPr>
            <a:r>
              <a:rPr lang="en-US" sz="1400" dirty="0">
                <a:solidFill>
                  <a:schemeClr val="tx1"/>
                </a:solidFill>
              </a:rPr>
              <a:t>Read-only on input, write-only on output, Block Public Access, SSE-S3.</a:t>
            </a:r>
            <a:endParaRPr lang="en-US" sz="1400" dirty="0"/>
          </a:p>
        </p:txBody>
      </p:sp>
      <p:pic>
        <p:nvPicPr>
          <p:cNvPr id="19" name="5-7-functional.png" descr="Functional test output"/>
          <p:cNvPicPr>
            <a:picLocks noChangeAspect="1"/>
          </p:cNvPicPr>
          <p:nvPr/>
        </p:nvPicPr>
        <p:blipFill>
          <a:blip r:embed="rId7"/>
          <a:stretch>
            <a:fillRect/>
          </a:stretch>
        </p:blipFill>
        <p:spPr>
          <a:xfrm>
            <a:off x="5897880" y="1757127"/>
            <a:ext cx="5715000" cy="1514945"/>
          </a:xfrm>
          <a:prstGeom prst="rect">
            <a:avLst/>
          </a:prstGeom>
          <a:effectLst>
            <a:outerShdw blurRad="76200" dist="25400" dir="5400000" algn="bl" rotWithShape="0">
              <a:srgbClr val="000000">
                <a:alpha val="18000"/>
              </a:srgbClr>
            </a:outerShdw>
          </a:effectLst>
        </p:spPr>
      </p:pic>
      <p:pic>
        <p:nvPicPr>
          <p:cNvPr id="20" name="4-2-s3-output.png" descr="Output bucket"/>
          <p:cNvPicPr>
            <a:picLocks noChangeAspect="1"/>
          </p:cNvPicPr>
          <p:nvPr/>
        </p:nvPicPr>
        <p:blipFill>
          <a:blip r:embed="rId8"/>
          <a:stretch>
            <a:fillRect/>
          </a:stretch>
        </p:blipFill>
        <p:spPr>
          <a:xfrm>
            <a:off x="5897880" y="4065406"/>
            <a:ext cx="5715000" cy="1287508"/>
          </a:xfrm>
          <a:prstGeom prst="rect">
            <a:avLst/>
          </a:prstGeom>
          <a:effectLst>
            <a:outerShdw blurRad="76200" dist="25400" dir="5400000" algn="bl" rotWithShape="0">
              <a:srgbClr val="000000">
                <a:alpha val="18000"/>
              </a:srgbClr>
            </a:outerShdw>
          </a:effectLst>
        </p:spPr>
      </p:pic>
      <p:sp>
        <p:nvSpPr>
          <p:cNvPr id="21" name="Text 13"/>
          <p:cNvSpPr txBox="1"/>
          <p:nvPr/>
        </p:nvSpPr>
        <p:spPr>
          <a:xfrm>
            <a:off x="5897880" y="5669280"/>
            <a:ext cx="5715000" cy="457200"/>
          </a:xfrm>
          <a:prstGeom prst="rect">
            <a:avLst/>
          </a:prstGeom>
          <a:noFill/>
          <a:ln/>
        </p:spPr>
        <p:txBody>
          <a:bodyPr wrap="square" lIns="0" tIns="0" rIns="0" bIns="0" rtlCol="0" anchor="t"/>
          <a:lstStyle/>
          <a:p>
            <a:pPr marL="0" indent="0">
              <a:buNone/>
            </a:pPr>
            <a:r>
              <a:rPr lang="en-US" sz="1400" i="1" dirty="0">
                <a:solidFill>
                  <a:schemeClr val="accent5"/>
                </a:solidFill>
              </a:rPr>
              <a:t>Bad requests are rejected before any processing, so they cost almost nothing.</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55472"/>
    </mc:Choice>
    <mc:Fallback xmlns="">
      <p:transition spd="slow" advTm="5547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Cold starts: what I measured and what surprised me</a:t>
            </a:r>
            <a:endParaRPr lang="en-US" sz="3200" dirty="0"/>
          </a:p>
        </p:txBody>
      </p:sp>
      <p:sp>
        <p:nvSpPr>
          <p:cNvPr id="3" name="Text 1"/>
          <p:cNvSpPr txBox="1"/>
          <p:nvPr/>
        </p:nvSpPr>
        <p:spPr>
          <a:xfrm>
            <a:off x="548640" y="1280160"/>
            <a:ext cx="2651760" cy="868680"/>
          </a:xfrm>
          <a:prstGeom prst="rect">
            <a:avLst/>
          </a:prstGeom>
          <a:noFill/>
          <a:ln/>
        </p:spPr>
        <p:txBody>
          <a:bodyPr wrap="square" lIns="0" tIns="0" rIns="0" bIns="0" rtlCol="0" anchor="t"/>
          <a:lstStyle/>
          <a:p>
            <a:pPr marL="0" indent="0">
              <a:buNone/>
            </a:pPr>
            <a:r>
              <a:rPr lang="en-US" sz="4800" b="1" dirty="0">
                <a:solidFill>
                  <a:schemeClr val="accent6"/>
                </a:solidFill>
                <a:latin typeface="Calibri" pitchFamily="34" charset="0"/>
                <a:ea typeface="Calibri" pitchFamily="34" charset="-122"/>
                <a:cs typeface="Calibri" pitchFamily="34" charset="-120"/>
              </a:rPr>
              <a:t>7 s</a:t>
            </a:r>
            <a:endParaRPr lang="en-US" sz="4800" dirty="0"/>
          </a:p>
        </p:txBody>
      </p:sp>
      <p:sp>
        <p:nvSpPr>
          <p:cNvPr id="4" name="Text 2"/>
          <p:cNvSpPr txBox="1"/>
          <p:nvPr/>
        </p:nvSpPr>
        <p:spPr>
          <a:xfrm>
            <a:off x="548640" y="2148840"/>
            <a:ext cx="2651760" cy="548640"/>
          </a:xfrm>
          <a:prstGeom prst="rect">
            <a:avLst/>
          </a:prstGeom>
          <a:noFill/>
          <a:ln/>
        </p:spPr>
        <p:txBody>
          <a:bodyPr wrap="square" lIns="0" tIns="0" rIns="0" bIns="0" rtlCol="0" anchor="t"/>
          <a:lstStyle/>
          <a:p>
            <a:pPr marL="0" indent="0">
              <a:buNone/>
            </a:pPr>
            <a:r>
              <a:rPr lang="en-US" sz="1400" dirty="0">
                <a:solidFill>
                  <a:schemeClr val="accent5"/>
                </a:solidFill>
              </a:rPr>
              <a:t>cold start (image cached)</a:t>
            </a:r>
            <a:endParaRPr lang="en-US" sz="1400" dirty="0"/>
          </a:p>
        </p:txBody>
      </p:sp>
      <p:sp>
        <p:nvSpPr>
          <p:cNvPr id="5" name="Text 3"/>
          <p:cNvSpPr txBox="1"/>
          <p:nvPr/>
        </p:nvSpPr>
        <p:spPr>
          <a:xfrm>
            <a:off x="3291840" y="1280160"/>
            <a:ext cx="2651760" cy="868680"/>
          </a:xfrm>
          <a:prstGeom prst="rect">
            <a:avLst/>
          </a:prstGeom>
          <a:noFill/>
          <a:ln/>
        </p:spPr>
        <p:txBody>
          <a:bodyPr wrap="square" lIns="0" tIns="0" rIns="0" bIns="0" rtlCol="0" anchor="t"/>
          <a:lstStyle/>
          <a:p>
            <a:pPr marL="0" indent="0">
              <a:buNone/>
            </a:pPr>
            <a:r>
              <a:rPr lang="en-US" sz="4800" b="1" dirty="0">
                <a:solidFill>
                  <a:schemeClr val="accent2"/>
                </a:solidFill>
                <a:latin typeface="Calibri" pitchFamily="34" charset="0"/>
                <a:ea typeface="Calibri" pitchFamily="34" charset="-122"/>
                <a:cs typeface="Calibri" pitchFamily="34" charset="-120"/>
              </a:rPr>
              <a:t>0.4 s</a:t>
            </a:r>
            <a:endParaRPr lang="en-US" sz="4800" dirty="0"/>
          </a:p>
        </p:txBody>
      </p:sp>
      <p:sp>
        <p:nvSpPr>
          <p:cNvPr id="6" name="Text 4"/>
          <p:cNvSpPr txBox="1"/>
          <p:nvPr/>
        </p:nvSpPr>
        <p:spPr>
          <a:xfrm>
            <a:off x="3291840" y="2148840"/>
            <a:ext cx="2651760" cy="548640"/>
          </a:xfrm>
          <a:prstGeom prst="rect">
            <a:avLst/>
          </a:prstGeom>
          <a:noFill/>
          <a:ln/>
        </p:spPr>
        <p:txBody>
          <a:bodyPr wrap="square" lIns="0" tIns="0" rIns="0" bIns="0" rtlCol="0" anchor="t"/>
          <a:lstStyle/>
          <a:p>
            <a:pPr marL="0" indent="0">
              <a:buNone/>
            </a:pPr>
            <a:r>
              <a:rPr lang="en-US" sz="1400" dirty="0">
                <a:solidFill>
                  <a:schemeClr val="accent5"/>
                </a:solidFill>
              </a:rPr>
              <a:t>warm request</a:t>
            </a:r>
            <a:endParaRPr lang="en-US" sz="1400" dirty="0"/>
          </a:p>
        </p:txBody>
      </p:sp>
      <p:sp>
        <p:nvSpPr>
          <p:cNvPr id="7" name="Text 5"/>
          <p:cNvSpPr txBox="1"/>
          <p:nvPr/>
        </p:nvSpPr>
        <p:spPr>
          <a:xfrm>
            <a:off x="548640" y="2880360"/>
            <a:ext cx="2651760" cy="868680"/>
          </a:xfrm>
          <a:prstGeom prst="rect">
            <a:avLst/>
          </a:prstGeom>
          <a:noFill/>
          <a:ln/>
        </p:spPr>
        <p:txBody>
          <a:bodyPr wrap="square" lIns="0" tIns="0" rIns="0" bIns="0" rtlCol="0" anchor="t"/>
          <a:lstStyle/>
          <a:p>
            <a:pPr marL="0" indent="0">
              <a:buNone/>
            </a:pPr>
            <a:r>
              <a:rPr lang="en-US" sz="4800" b="1" dirty="0">
                <a:solidFill>
                  <a:schemeClr val="accent1"/>
                </a:solidFill>
                <a:latin typeface="Calibri" pitchFamily="34" charset="0"/>
                <a:ea typeface="Calibri" pitchFamily="34" charset="-122"/>
                <a:cs typeface="Calibri" pitchFamily="34" charset="-120"/>
              </a:rPr>
              <a:t>29 s</a:t>
            </a:r>
            <a:endParaRPr lang="en-US" sz="4800" dirty="0"/>
          </a:p>
        </p:txBody>
      </p:sp>
      <p:sp>
        <p:nvSpPr>
          <p:cNvPr id="8" name="Text 6"/>
          <p:cNvSpPr txBox="1"/>
          <p:nvPr/>
        </p:nvSpPr>
        <p:spPr>
          <a:xfrm>
            <a:off x="548640" y="3749040"/>
            <a:ext cx="2651760" cy="548640"/>
          </a:xfrm>
          <a:prstGeom prst="rect">
            <a:avLst/>
          </a:prstGeom>
          <a:noFill/>
          <a:ln/>
        </p:spPr>
        <p:txBody>
          <a:bodyPr wrap="square" lIns="0" tIns="0" rIns="0" bIns="0" rtlCol="0" anchor="t"/>
          <a:lstStyle/>
          <a:p>
            <a:pPr marL="0" indent="0">
              <a:buNone/>
            </a:pPr>
            <a:r>
              <a:rPr lang="en-US" sz="1400" dirty="0">
                <a:solidFill>
                  <a:schemeClr val="accent5"/>
                </a:solidFill>
              </a:rPr>
              <a:t>API Gateway limit: first call after a deploy gave 504</a:t>
            </a:r>
            <a:endParaRPr lang="en-US" sz="1400" dirty="0"/>
          </a:p>
        </p:txBody>
      </p:sp>
      <p:sp>
        <p:nvSpPr>
          <p:cNvPr id="9" name="Text 7"/>
          <p:cNvSpPr txBox="1"/>
          <p:nvPr/>
        </p:nvSpPr>
        <p:spPr>
          <a:xfrm>
            <a:off x="3291840" y="2880360"/>
            <a:ext cx="2651760" cy="868680"/>
          </a:xfrm>
          <a:prstGeom prst="rect">
            <a:avLst/>
          </a:prstGeom>
          <a:noFill/>
          <a:ln/>
        </p:spPr>
        <p:txBody>
          <a:bodyPr wrap="square" lIns="0" tIns="0" rIns="0" bIns="0" rtlCol="0" anchor="t"/>
          <a:lstStyle/>
          <a:p>
            <a:pPr marL="0" indent="0">
              <a:buNone/>
            </a:pPr>
            <a:r>
              <a:rPr lang="en-US" sz="4800" b="1" dirty="0">
                <a:solidFill>
                  <a:schemeClr val="accent3"/>
                </a:solidFill>
                <a:latin typeface="Calibri" pitchFamily="34" charset="0"/>
                <a:ea typeface="Calibri" pitchFamily="34" charset="-122"/>
                <a:cs typeface="Calibri" pitchFamily="34" charset="-120"/>
              </a:rPr>
              <a:t>10 s</a:t>
            </a:r>
            <a:endParaRPr lang="en-US" sz="4800" dirty="0"/>
          </a:p>
        </p:txBody>
      </p:sp>
      <p:sp>
        <p:nvSpPr>
          <p:cNvPr id="10" name="Text 8"/>
          <p:cNvSpPr txBox="1"/>
          <p:nvPr/>
        </p:nvSpPr>
        <p:spPr>
          <a:xfrm>
            <a:off x="3291840" y="3749040"/>
            <a:ext cx="2651760" cy="548640"/>
          </a:xfrm>
          <a:prstGeom prst="rect">
            <a:avLst/>
          </a:prstGeom>
          <a:noFill/>
          <a:ln/>
        </p:spPr>
        <p:txBody>
          <a:bodyPr wrap="square" lIns="0" tIns="0" rIns="0" bIns="0" rtlCol="0" anchor="t"/>
          <a:lstStyle/>
          <a:p>
            <a:pPr marL="0" indent="0">
              <a:buNone/>
            </a:pPr>
            <a:r>
              <a:rPr lang="en-US" sz="1400" dirty="0">
                <a:solidFill>
                  <a:schemeClr val="accent5"/>
                </a:solidFill>
              </a:rPr>
              <a:t>Lambda init limit: v1 sometimes timed out</a:t>
            </a:r>
            <a:endParaRPr lang="en-US" sz="1400" dirty="0"/>
          </a:p>
        </p:txBody>
      </p:sp>
      <p:sp>
        <p:nvSpPr>
          <p:cNvPr id="11" name="card"/>
          <p:cNvSpPr/>
          <p:nvPr/>
        </p:nvSpPr>
        <p:spPr>
          <a:xfrm>
            <a:off x="548640" y="4617720"/>
            <a:ext cx="5394960" cy="1691640"/>
          </a:xfrm>
          <a:prstGeom prst="roundRect">
            <a:avLst>
              <a:gd name="adj" fmla="val 6486"/>
            </a:avLst>
          </a:prstGeom>
          <a:solidFill>
            <a:schemeClr val="bg2"/>
          </a:solidFill>
          <a:ln w="12700">
            <a:solidFill>
              <a:schemeClr val="bg2"/>
            </a:solidFill>
            <a:prstDash val="solid"/>
          </a:ln>
        </p:spPr>
        <p:txBody>
          <a:bodyPr/>
          <a:lstStyle/>
          <a:p>
            <a:endParaRPr lang="en-US"/>
          </a:p>
        </p:txBody>
      </p:sp>
      <p:sp>
        <p:nvSpPr>
          <p:cNvPr id="12" name="Text 10"/>
          <p:cNvSpPr txBox="1"/>
          <p:nvPr/>
        </p:nvSpPr>
        <p:spPr>
          <a:xfrm>
            <a:off x="777240" y="4800600"/>
            <a:ext cx="4937760" cy="1371600"/>
          </a:xfrm>
          <a:prstGeom prst="rect">
            <a:avLst/>
          </a:prstGeom>
          <a:noFill/>
          <a:ln/>
        </p:spPr>
        <p:txBody>
          <a:bodyPr wrap="square" lIns="0" tIns="0" rIns="0" bIns="0" rtlCol="0" anchor="t"/>
          <a:lstStyle/>
          <a:p>
            <a:pPr marL="0" indent="0">
              <a:buNone/>
            </a:pPr>
            <a:r>
              <a:rPr lang="en-US" sz="1450" b="1" dirty="0">
                <a:solidFill>
                  <a:schemeClr val="tx1"/>
                </a:solidFill>
              </a:rPr>
              <a:t>Lesson: </a:t>
            </a:r>
            <a:r>
              <a:rPr lang="en-US" sz="1450" dirty="0">
                <a:solidFill>
                  <a:schemeClr val="tx1"/>
                </a:solidFill>
              </a:rPr>
              <a:t>lazy loading removed the init timeouts but made cold starts 1.4 s slower. The real factor is whether Lambda has cached the 2 GB image. I kept eager loading and added a warm-up step after deploy.</a:t>
            </a:r>
            <a:endParaRPr lang="en-US" sz="1450" dirty="0"/>
          </a:p>
        </p:txBody>
      </p:sp>
      <p:graphicFrame>
        <p:nvGraphicFramePr>
          <p:cNvPr id="13" name="Chart 0"/>
          <p:cNvGraphicFramePr/>
          <p:nvPr/>
        </p:nvGraphicFramePr>
        <p:xfrm>
          <a:off x="6263640" y="1280160"/>
          <a:ext cx="5349240" cy="502920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58323"/>
    </mc:Choice>
    <mc:Fallback xmlns="">
      <p:transition spd="slow" advTm="5832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Memory tuning: more memory was almost free</a:t>
            </a:r>
            <a:endParaRPr lang="en-US" sz="3200" dirty="0"/>
          </a:p>
        </p:txBody>
      </p:sp>
      <p:graphicFrame>
        <p:nvGraphicFramePr>
          <p:cNvPr id="3" name="Chart 0"/>
          <p:cNvGraphicFramePr/>
          <p:nvPr/>
        </p:nvGraphicFramePr>
        <p:xfrm>
          <a:off x="548640" y="1280160"/>
          <a:ext cx="6583680" cy="502920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
          <p:cNvSpPr/>
          <p:nvPr/>
        </p:nvSpPr>
        <p:spPr>
          <a:xfrm>
            <a:off x="7452360" y="1280160"/>
            <a:ext cx="4160520" cy="5029200"/>
          </a:xfrm>
          <a:prstGeom prst="roundRect">
            <a:avLst>
              <a:gd name="adj" fmla="val 2637"/>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7726680" y="1463040"/>
            <a:ext cx="3657600" cy="868680"/>
          </a:xfrm>
          <a:prstGeom prst="rect">
            <a:avLst/>
          </a:prstGeom>
          <a:noFill/>
          <a:ln/>
        </p:spPr>
        <p:txBody>
          <a:bodyPr wrap="square" lIns="0" tIns="0" rIns="0" bIns="0" rtlCol="0" anchor="t"/>
          <a:lstStyle/>
          <a:p>
            <a:pPr marL="0" indent="0">
              <a:buNone/>
            </a:pPr>
            <a:r>
              <a:rPr lang="en-US" sz="4800" b="1" dirty="0">
                <a:solidFill>
                  <a:schemeClr val="accent2"/>
                </a:solidFill>
                <a:latin typeface="Calibri" pitchFamily="34" charset="0"/>
                <a:ea typeface="Calibri" pitchFamily="34" charset="-122"/>
                <a:cs typeface="Calibri" pitchFamily="34" charset="-120"/>
              </a:rPr>
              <a:t>2.2x faster</a:t>
            </a:r>
            <a:endParaRPr lang="en-US" sz="4800" dirty="0"/>
          </a:p>
        </p:txBody>
      </p:sp>
      <p:sp>
        <p:nvSpPr>
          <p:cNvPr id="6" name="Text 3"/>
          <p:cNvSpPr txBox="1"/>
          <p:nvPr/>
        </p:nvSpPr>
        <p:spPr>
          <a:xfrm>
            <a:off x="7726680" y="2331720"/>
            <a:ext cx="3657600" cy="548640"/>
          </a:xfrm>
          <a:prstGeom prst="rect">
            <a:avLst/>
          </a:prstGeom>
          <a:noFill/>
          <a:ln/>
        </p:spPr>
        <p:txBody>
          <a:bodyPr wrap="square" lIns="0" tIns="0" rIns="0" bIns="0" rtlCol="0" anchor="t"/>
          <a:lstStyle/>
          <a:p>
            <a:pPr marL="0" indent="0">
              <a:buNone/>
            </a:pPr>
            <a:r>
              <a:rPr lang="en-US" sz="1400" dirty="0">
                <a:solidFill>
                  <a:schemeClr val="accent5"/>
                </a:solidFill>
              </a:rPr>
              <a:t>3008 MB vs 1024 MB, whole request</a:t>
            </a:r>
            <a:endParaRPr lang="en-US" sz="1400" dirty="0"/>
          </a:p>
        </p:txBody>
      </p:sp>
      <p:sp>
        <p:nvSpPr>
          <p:cNvPr id="7" name="Text 4"/>
          <p:cNvSpPr txBox="1"/>
          <p:nvPr/>
        </p:nvSpPr>
        <p:spPr>
          <a:xfrm>
            <a:off x="7726680" y="2926080"/>
            <a:ext cx="3657600" cy="868680"/>
          </a:xfrm>
          <a:prstGeom prst="rect">
            <a:avLst/>
          </a:prstGeom>
          <a:noFill/>
          <a:ln/>
        </p:spPr>
        <p:txBody>
          <a:bodyPr wrap="square" lIns="0" tIns="0" rIns="0" bIns="0" rtlCol="0" anchor="t"/>
          <a:lstStyle/>
          <a:p>
            <a:pPr marL="0" indent="0">
              <a:buNone/>
            </a:pPr>
            <a:r>
              <a:rPr lang="en-US" sz="4800" b="1" dirty="0">
                <a:solidFill>
                  <a:schemeClr val="accent1"/>
                </a:solidFill>
                <a:latin typeface="Calibri" pitchFamily="34" charset="0"/>
                <a:ea typeface="Calibri" pitchFamily="34" charset="-122"/>
                <a:cs typeface="Calibri" pitchFamily="34" charset="-120"/>
              </a:rPr>
              <a:t>+13 % cost</a:t>
            </a:r>
            <a:endParaRPr lang="en-US" sz="4800" dirty="0"/>
          </a:p>
        </p:txBody>
      </p:sp>
      <p:sp>
        <p:nvSpPr>
          <p:cNvPr id="8" name="Text 5"/>
          <p:cNvSpPr txBox="1"/>
          <p:nvPr/>
        </p:nvSpPr>
        <p:spPr>
          <a:xfrm>
            <a:off x="7726680" y="3794760"/>
            <a:ext cx="3657600" cy="548640"/>
          </a:xfrm>
          <a:prstGeom prst="rect">
            <a:avLst/>
          </a:prstGeom>
          <a:noFill/>
          <a:ln/>
        </p:spPr>
        <p:txBody>
          <a:bodyPr wrap="square" lIns="0" tIns="0" rIns="0" bIns="0" rtlCol="0" anchor="t"/>
          <a:lstStyle/>
          <a:p>
            <a:pPr marL="0" indent="0">
              <a:buNone/>
            </a:pPr>
            <a:r>
              <a:rPr lang="en-US" sz="1400" dirty="0">
                <a:solidFill>
                  <a:schemeClr val="accent5"/>
                </a:solidFill>
              </a:rPr>
              <a:t>$0.0149 vs $0.0132 per 1000 requests</a:t>
            </a:r>
            <a:endParaRPr lang="en-US" sz="1400" dirty="0"/>
          </a:p>
        </p:txBody>
      </p:sp>
      <p:sp>
        <p:nvSpPr>
          <p:cNvPr id="9" name="Text 6"/>
          <p:cNvSpPr txBox="1"/>
          <p:nvPr/>
        </p:nvSpPr>
        <p:spPr>
          <a:xfrm>
            <a:off x="7726680" y="4434840"/>
            <a:ext cx="3657600" cy="1737360"/>
          </a:xfrm>
          <a:prstGeom prst="rect">
            <a:avLst/>
          </a:prstGeom>
          <a:noFill/>
          <a:ln/>
        </p:spPr>
        <p:txBody>
          <a:bodyPr wrap="square" lIns="0" tIns="0" rIns="0" bIns="0" rtlCol="0" anchor="t"/>
          <a:lstStyle/>
          <a:p>
            <a:pPr marL="0" indent="0">
              <a:buNone/>
            </a:pPr>
            <a:r>
              <a:rPr lang="en-US" sz="1400" dirty="0">
                <a:solidFill>
                  <a:schemeClr val="tx1"/>
                </a:solidFill>
              </a:rPr>
              <a:t>Lambda gives CPU in proportion to memory. My function uses only about 710 MB of RAM, so memory matters here only because it buys CPU. Each request finishes so much sooner that the bigger size almost pays for itself.</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41683"/>
    </mc:Choice>
    <mc:Fallback xmlns="">
      <p:transition spd="slow" advTm="4168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Scaling: the real bottleneck was an account limit</a:t>
            </a:r>
            <a:endParaRPr lang="en-US" sz="3200" dirty="0"/>
          </a:p>
        </p:txBody>
      </p:sp>
      <p:sp>
        <p:nvSpPr>
          <p:cNvPr id="3" name="card"/>
          <p:cNvSpPr/>
          <p:nvPr/>
        </p:nvSpPr>
        <p:spPr>
          <a:xfrm>
            <a:off x="548640" y="1325880"/>
            <a:ext cx="3520440" cy="320040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777240" y="1508760"/>
            <a:ext cx="3063240" cy="365760"/>
          </a:xfrm>
          <a:prstGeom prst="rect">
            <a:avLst/>
          </a:prstGeom>
          <a:noFill/>
          <a:ln/>
        </p:spPr>
        <p:txBody>
          <a:bodyPr wrap="square" lIns="0" tIns="0" rIns="0" bIns="0" rtlCol="0" anchor="t"/>
          <a:lstStyle/>
          <a:p>
            <a:pPr marL="0" indent="0">
              <a:buNone/>
            </a:pPr>
            <a:r>
              <a:rPr lang="en-US" sz="1800" b="1" dirty="0">
                <a:solidFill>
                  <a:schemeClr val="tx2"/>
                </a:solidFill>
              </a:rPr>
              <a:t>Load test</a:t>
            </a:r>
            <a:endParaRPr lang="en-US" sz="1800" dirty="0"/>
          </a:p>
        </p:txBody>
      </p:sp>
      <p:sp>
        <p:nvSpPr>
          <p:cNvPr id="5" name="Text 3"/>
          <p:cNvSpPr txBox="1"/>
          <p:nvPr/>
        </p:nvSpPr>
        <p:spPr>
          <a:xfrm>
            <a:off x="777240" y="1874520"/>
            <a:ext cx="3063240" cy="320040"/>
          </a:xfrm>
          <a:prstGeom prst="rect">
            <a:avLst/>
          </a:prstGeom>
          <a:noFill/>
          <a:ln/>
        </p:spPr>
        <p:txBody>
          <a:bodyPr wrap="square" lIns="0" tIns="0" rIns="0" bIns="0" rtlCol="0" anchor="t"/>
          <a:lstStyle/>
          <a:p>
            <a:pPr marL="0" indent="0">
              <a:buNone/>
            </a:pPr>
            <a:r>
              <a:rPr lang="en-US" sz="1300" dirty="0">
                <a:solidFill>
                  <a:schemeClr val="accent5"/>
                </a:solidFill>
              </a:rPr>
              <a:t>20 requests, 5 at a time</a:t>
            </a:r>
            <a:endParaRPr lang="en-US" sz="1300" dirty="0"/>
          </a:p>
        </p:txBody>
      </p:sp>
      <p:sp>
        <p:nvSpPr>
          <p:cNvPr id="6" name="Text 4"/>
          <p:cNvSpPr txBox="1"/>
          <p:nvPr/>
        </p:nvSpPr>
        <p:spPr>
          <a:xfrm>
            <a:off x="777240" y="2240280"/>
            <a:ext cx="3063240" cy="868680"/>
          </a:xfrm>
          <a:prstGeom prst="rect">
            <a:avLst/>
          </a:prstGeom>
          <a:noFill/>
          <a:ln/>
        </p:spPr>
        <p:txBody>
          <a:bodyPr wrap="square" lIns="0" tIns="0" rIns="0" bIns="0" rtlCol="0" anchor="t"/>
          <a:lstStyle/>
          <a:p>
            <a:pPr marL="0" indent="0">
              <a:buNone/>
            </a:pPr>
            <a:r>
              <a:rPr lang="en-US" sz="4800" b="1" dirty="0">
                <a:solidFill>
                  <a:schemeClr val="accent2"/>
                </a:solidFill>
              </a:rPr>
              <a:t>20 / 20</a:t>
            </a:r>
            <a:endParaRPr lang="en-US" sz="4800" dirty="0"/>
          </a:p>
        </p:txBody>
      </p:sp>
      <p:sp>
        <p:nvSpPr>
          <p:cNvPr id="7" name="Text 5"/>
          <p:cNvSpPr txBox="1"/>
          <p:nvPr/>
        </p:nvSpPr>
        <p:spPr>
          <a:xfrm>
            <a:off x="777240" y="3154680"/>
            <a:ext cx="3063240" cy="1280160"/>
          </a:xfrm>
          <a:prstGeom prst="rect">
            <a:avLst/>
          </a:prstGeom>
          <a:noFill/>
          <a:ln/>
        </p:spPr>
        <p:txBody>
          <a:bodyPr wrap="square" lIns="0" tIns="0" rIns="0" bIns="0" rtlCol="0" anchor="t"/>
          <a:lstStyle/>
          <a:p>
            <a:pPr marL="0" indent="0">
              <a:buNone/>
            </a:pPr>
            <a:r>
              <a:rPr lang="en-US" sz="1400" dirty="0">
                <a:solidFill>
                  <a:schemeClr val="tx1"/>
                </a:solidFill>
              </a:rPr>
              <a:t>Lambda created 4 new environments automatically (4 cold starts)</a:t>
            </a:r>
            <a:endParaRPr lang="en-US" sz="1400" dirty="0"/>
          </a:p>
        </p:txBody>
      </p:sp>
      <p:sp>
        <p:nvSpPr>
          <p:cNvPr id="8" name="card"/>
          <p:cNvSpPr/>
          <p:nvPr/>
        </p:nvSpPr>
        <p:spPr>
          <a:xfrm>
            <a:off x="4297680" y="1325880"/>
            <a:ext cx="3520440" cy="320040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9" name="Text 7"/>
          <p:cNvSpPr txBox="1"/>
          <p:nvPr/>
        </p:nvSpPr>
        <p:spPr>
          <a:xfrm>
            <a:off x="4526280" y="1508760"/>
            <a:ext cx="3063240" cy="365760"/>
          </a:xfrm>
          <a:prstGeom prst="rect">
            <a:avLst/>
          </a:prstGeom>
          <a:noFill/>
          <a:ln/>
        </p:spPr>
        <p:txBody>
          <a:bodyPr wrap="square" lIns="0" tIns="0" rIns="0" bIns="0" rtlCol="0" anchor="t"/>
          <a:lstStyle/>
          <a:p>
            <a:pPr marL="0" indent="0">
              <a:buNone/>
            </a:pPr>
            <a:r>
              <a:rPr lang="en-US" sz="1800" b="1" dirty="0">
                <a:solidFill>
                  <a:schemeClr val="tx2"/>
                </a:solidFill>
              </a:rPr>
              <a:t>Burst test</a:t>
            </a:r>
            <a:endParaRPr lang="en-US" sz="1800" dirty="0"/>
          </a:p>
        </p:txBody>
      </p:sp>
      <p:sp>
        <p:nvSpPr>
          <p:cNvPr id="10" name="Text 8"/>
          <p:cNvSpPr txBox="1"/>
          <p:nvPr/>
        </p:nvSpPr>
        <p:spPr>
          <a:xfrm>
            <a:off x="4526280" y="1874520"/>
            <a:ext cx="3063240" cy="320040"/>
          </a:xfrm>
          <a:prstGeom prst="rect">
            <a:avLst/>
          </a:prstGeom>
          <a:noFill/>
          <a:ln/>
        </p:spPr>
        <p:txBody>
          <a:bodyPr wrap="square" lIns="0" tIns="0" rIns="0" bIns="0" rtlCol="0" anchor="t"/>
          <a:lstStyle/>
          <a:p>
            <a:pPr marL="0" indent="0">
              <a:buNone/>
            </a:pPr>
            <a:r>
              <a:rPr lang="en-US" sz="1300" dirty="0">
                <a:solidFill>
                  <a:schemeClr val="accent5"/>
                </a:solidFill>
              </a:rPr>
              <a:t>40 requests, 20 at a time</a:t>
            </a:r>
            <a:endParaRPr lang="en-US" sz="1300" dirty="0"/>
          </a:p>
        </p:txBody>
      </p:sp>
      <p:sp>
        <p:nvSpPr>
          <p:cNvPr id="11" name="Text 9"/>
          <p:cNvSpPr txBox="1"/>
          <p:nvPr/>
        </p:nvSpPr>
        <p:spPr>
          <a:xfrm>
            <a:off x="4526280" y="2240280"/>
            <a:ext cx="3063240" cy="868680"/>
          </a:xfrm>
          <a:prstGeom prst="rect">
            <a:avLst/>
          </a:prstGeom>
          <a:noFill/>
          <a:ln/>
        </p:spPr>
        <p:txBody>
          <a:bodyPr wrap="square" lIns="0" tIns="0" rIns="0" bIns="0" rtlCol="0" anchor="t"/>
          <a:lstStyle/>
          <a:p>
            <a:pPr marL="0" indent="0">
              <a:buNone/>
            </a:pPr>
            <a:r>
              <a:rPr lang="en-US" sz="4800" b="1" dirty="0">
                <a:solidFill>
                  <a:schemeClr val="accent6"/>
                </a:solidFill>
              </a:rPr>
              <a:t>10 / 40</a:t>
            </a:r>
            <a:endParaRPr lang="en-US" sz="4800" dirty="0"/>
          </a:p>
        </p:txBody>
      </p:sp>
      <p:sp>
        <p:nvSpPr>
          <p:cNvPr id="12" name="Text 10"/>
          <p:cNvSpPr txBox="1"/>
          <p:nvPr/>
        </p:nvSpPr>
        <p:spPr>
          <a:xfrm>
            <a:off x="4526280" y="3154680"/>
            <a:ext cx="3063240" cy="1280160"/>
          </a:xfrm>
          <a:prstGeom prst="rect">
            <a:avLst/>
          </a:prstGeom>
          <a:noFill/>
          <a:ln/>
        </p:spPr>
        <p:txBody>
          <a:bodyPr wrap="square" lIns="0" tIns="0" rIns="0" bIns="0" rtlCol="0" anchor="t"/>
          <a:lstStyle/>
          <a:p>
            <a:pPr marL="0" indent="0">
              <a:buNone/>
            </a:pPr>
            <a:r>
              <a:rPr lang="en-US" sz="1400" dirty="0">
                <a:solidFill>
                  <a:schemeClr val="tx1"/>
                </a:solidFill>
              </a:rPr>
              <a:t>Account concurrency limit is 10, so 30 were throttled and returned 500 in about 90 ms</a:t>
            </a:r>
            <a:endParaRPr lang="en-US" sz="1400" dirty="0"/>
          </a:p>
        </p:txBody>
      </p:sp>
      <p:sp>
        <p:nvSpPr>
          <p:cNvPr id="13" name="card"/>
          <p:cNvSpPr/>
          <p:nvPr/>
        </p:nvSpPr>
        <p:spPr>
          <a:xfrm>
            <a:off x="8046720" y="1325880"/>
            <a:ext cx="3520440" cy="320040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2"/>
          <p:cNvSpPr txBox="1"/>
          <p:nvPr/>
        </p:nvSpPr>
        <p:spPr>
          <a:xfrm>
            <a:off x="8275320" y="1508760"/>
            <a:ext cx="3063240" cy="365760"/>
          </a:xfrm>
          <a:prstGeom prst="rect">
            <a:avLst/>
          </a:prstGeom>
          <a:noFill/>
          <a:ln/>
        </p:spPr>
        <p:txBody>
          <a:bodyPr wrap="square" lIns="0" tIns="0" rIns="0" bIns="0" rtlCol="0" anchor="t"/>
          <a:lstStyle/>
          <a:p>
            <a:pPr marL="0" indent="0">
              <a:buNone/>
            </a:pPr>
            <a:r>
              <a:rPr lang="en-US" sz="1800" b="1" dirty="0">
                <a:solidFill>
                  <a:schemeClr val="tx2"/>
                </a:solidFill>
              </a:rPr>
              <a:t>Burst + client retries</a:t>
            </a:r>
            <a:endParaRPr lang="en-US" sz="1800" dirty="0"/>
          </a:p>
        </p:txBody>
      </p:sp>
      <p:sp>
        <p:nvSpPr>
          <p:cNvPr id="15" name="Text 13"/>
          <p:cNvSpPr txBox="1"/>
          <p:nvPr/>
        </p:nvSpPr>
        <p:spPr>
          <a:xfrm>
            <a:off x="8275320" y="1874520"/>
            <a:ext cx="3063240" cy="320040"/>
          </a:xfrm>
          <a:prstGeom prst="rect">
            <a:avLst/>
          </a:prstGeom>
          <a:noFill/>
          <a:ln/>
        </p:spPr>
        <p:txBody>
          <a:bodyPr wrap="square" lIns="0" tIns="0" rIns="0" bIns="0" rtlCol="0" anchor="t"/>
          <a:lstStyle/>
          <a:p>
            <a:pPr marL="0" indent="0">
              <a:buNone/>
            </a:pPr>
            <a:r>
              <a:rPr lang="en-US" sz="1300" dirty="0">
                <a:solidFill>
                  <a:schemeClr val="accent5"/>
                </a:solidFill>
              </a:rPr>
              <a:t>same burst, exponential backoff</a:t>
            </a:r>
            <a:endParaRPr lang="en-US" sz="1300" dirty="0"/>
          </a:p>
        </p:txBody>
      </p:sp>
      <p:sp>
        <p:nvSpPr>
          <p:cNvPr id="16" name="Text 14"/>
          <p:cNvSpPr txBox="1"/>
          <p:nvPr/>
        </p:nvSpPr>
        <p:spPr>
          <a:xfrm>
            <a:off x="8275320" y="2240280"/>
            <a:ext cx="3063240" cy="868680"/>
          </a:xfrm>
          <a:prstGeom prst="rect">
            <a:avLst/>
          </a:prstGeom>
          <a:noFill/>
          <a:ln/>
        </p:spPr>
        <p:txBody>
          <a:bodyPr wrap="square" lIns="0" tIns="0" rIns="0" bIns="0" rtlCol="0" anchor="t"/>
          <a:lstStyle/>
          <a:p>
            <a:pPr marL="0" indent="0">
              <a:buNone/>
            </a:pPr>
            <a:r>
              <a:rPr lang="en-US" sz="4800" b="1" dirty="0">
                <a:solidFill>
                  <a:schemeClr val="accent4"/>
                </a:solidFill>
              </a:rPr>
              <a:t>40 / 40</a:t>
            </a:r>
            <a:endParaRPr lang="en-US" sz="4800" dirty="0"/>
          </a:p>
        </p:txBody>
      </p:sp>
      <p:sp>
        <p:nvSpPr>
          <p:cNvPr id="17" name="Text 15"/>
          <p:cNvSpPr txBox="1"/>
          <p:nvPr/>
        </p:nvSpPr>
        <p:spPr>
          <a:xfrm>
            <a:off x="8275320" y="3154680"/>
            <a:ext cx="3063240" cy="1280160"/>
          </a:xfrm>
          <a:prstGeom prst="rect">
            <a:avLst/>
          </a:prstGeom>
          <a:noFill/>
          <a:ln/>
        </p:spPr>
        <p:txBody>
          <a:bodyPr wrap="square" lIns="0" tIns="0" rIns="0" bIns="0" rtlCol="0" anchor="t"/>
          <a:lstStyle/>
          <a:p>
            <a:pPr marL="0" indent="0">
              <a:buNone/>
            </a:pPr>
            <a:r>
              <a:rPr lang="en-US" sz="1400" dirty="0">
                <a:solidFill>
                  <a:schemeClr val="tx1"/>
                </a:solidFill>
              </a:rPr>
              <a:t>21 requests needed a retry, slowest 3.8 s. Overload became delay, not error</a:t>
            </a:r>
            <a:endParaRPr lang="en-US" sz="1400" dirty="0"/>
          </a:p>
        </p:txBody>
      </p:sp>
      <p:pic>
        <p:nvPicPr>
          <p:cNvPr id="18" name="6-5-reserved-error.png" descr="Reserved concurrency error"/>
          <p:cNvPicPr>
            <a:picLocks noChangeAspect="1"/>
          </p:cNvPicPr>
          <p:nvPr/>
        </p:nvPicPr>
        <p:blipFill>
          <a:blip r:embed="rId3"/>
          <a:stretch>
            <a:fillRect/>
          </a:stretch>
        </p:blipFill>
        <p:spPr>
          <a:xfrm>
            <a:off x="548640" y="5085132"/>
            <a:ext cx="5120640" cy="893976"/>
          </a:xfrm>
          <a:prstGeom prst="rect">
            <a:avLst/>
          </a:prstGeom>
          <a:effectLst>
            <a:outerShdw blurRad="76200" dist="25400" dir="5400000" algn="bl" rotWithShape="0">
              <a:srgbClr val="000000">
                <a:alpha val="18000"/>
              </a:srgbClr>
            </a:outerShdw>
          </a:effectLst>
        </p:spPr>
      </p:pic>
      <p:sp>
        <p:nvSpPr>
          <p:cNvPr id="19" name="Text 16"/>
          <p:cNvSpPr txBox="1"/>
          <p:nvPr/>
        </p:nvSpPr>
        <p:spPr>
          <a:xfrm>
            <a:off x="5943600" y="4846320"/>
            <a:ext cx="5669280" cy="1463040"/>
          </a:xfrm>
          <a:prstGeom prst="rect">
            <a:avLst/>
          </a:prstGeom>
          <a:noFill/>
          <a:ln/>
        </p:spPr>
        <p:txBody>
          <a:bodyPr wrap="square" lIns="0" tIns="0" rIns="0" bIns="0" rtlCol="0" anchor="t"/>
          <a:lstStyle/>
          <a:p>
            <a:pPr marL="0" indent="0">
              <a:buNone/>
            </a:pPr>
            <a:r>
              <a:rPr lang="en-US" sz="1450" b="1" dirty="0">
                <a:solidFill>
                  <a:schemeClr val="tx1"/>
                </a:solidFill>
              </a:rPr>
              <a:t>Reserved and provisioned concurrency are blocked by the limit of 10. </a:t>
            </a:r>
            <a:r>
              <a:rPr lang="en-US" sz="1450" dirty="0">
                <a:solidFill>
                  <a:schemeClr val="tx1"/>
                </a:solidFill>
              </a:rPr>
              <a:t>I requested an increase to 1,000 (pending). DynamoDB auto scaling (1 to 10 units at 70 %) was ready, but the busiest test used only 46 of 60 writes per minute.</a:t>
            </a:r>
            <a:endParaRPr lang="en-US" sz="145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60146"/>
    </mc:Choice>
    <mc:Fallback xmlns="">
      <p:transition spd="slow" advTm="6014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Challenges and how I solved them</a:t>
            </a:r>
            <a:endParaRPr lang="en-US" sz="3200" dirty="0"/>
          </a:p>
        </p:txBody>
      </p:sp>
      <p:sp>
        <p:nvSpPr>
          <p:cNvPr id="3" name="card"/>
          <p:cNvSpPr/>
          <p:nvPr/>
        </p:nvSpPr>
        <p:spPr>
          <a:xfrm>
            <a:off x="548640" y="1325880"/>
            <a:ext cx="5440680" cy="1481328"/>
          </a:xfrm>
          <a:prstGeom prst="roundRect">
            <a:avLst>
              <a:gd name="adj" fmla="val 7407"/>
            </a:avLst>
          </a:prstGeom>
          <a:solidFill>
            <a:schemeClr val="bg2"/>
          </a:solidFill>
          <a:ln w="12700">
            <a:solidFill>
              <a:schemeClr val="bg2"/>
            </a:solidFill>
            <a:prstDash val="solid"/>
          </a:ln>
        </p:spPr>
        <p:txBody>
          <a:bodyPr/>
          <a:lstStyle/>
          <a:p>
            <a:endParaRPr lang="en-US"/>
          </a:p>
        </p:txBody>
      </p:sp>
      <p:sp>
        <p:nvSpPr>
          <p:cNvPr id="4" name="icon-circle"/>
          <p:cNvSpPr/>
          <p:nvPr/>
        </p:nvSpPr>
        <p:spPr>
          <a:xfrm>
            <a:off x="777240" y="1709928"/>
            <a:ext cx="713232" cy="713232"/>
          </a:xfrm>
          <a:prstGeom prst="ellipse">
            <a:avLst/>
          </a:prstGeom>
          <a:solidFill>
            <a:schemeClr val="accent1"/>
          </a:solidFill>
          <a:ln w="12700">
            <a:solidFill>
              <a:schemeClr val="accent1"/>
            </a:solidFill>
            <a:prstDash val="solid"/>
          </a:ln>
        </p:spPr>
        <p:txBody>
          <a:bodyPr/>
          <a:lstStyle/>
          <a:p>
            <a:endParaRPr lang="en-US"/>
          </a:p>
        </p:txBody>
      </p:sp>
      <p:pic>
        <p:nvPicPr>
          <p:cNvPr id="5" name="icon" descr="preencoded.png"/>
          <p:cNvPicPr>
            <a:picLocks noChangeAspect="1"/>
          </p:cNvPicPr>
          <p:nvPr/>
        </p:nvPicPr>
        <p:blipFill>
          <a:blip r:embed="rId3"/>
          <a:stretch>
            <a:fillRect/>
          </a:stretch>
        </p:blipFill>
        <p:spPr>
          <a:xfrm>
            <a:off x="948416" y="1881104"/>
            <a:ext cx="370881" cy="370881"/>
          </a:xfrm>
          <a:prstGeom prst="rect">
            <a:avLst/>
          </a:prstGeom>
        </p:spPr>
      </p:pic>
      <p:sp>
        <p:nvSpPr>
          <p:cNvPr id="6" name="Text 3"/>
          <p:cNvSpPr txBox="1"/>
          <p:nvPr/>
        </p:nvSpPr>
        <p:spPr>
          <a:xfrm>
            <a:off x="1691640" y="1508760"/>
            <a:ext cx="4114800" cy="365760"/>
          </a:xfrm>
          <a:prstGeom prst="rect">
            <a:avLst/>
          </a:prstGeom>
          <a:noFill/>
          <a:ln/>
        </p:spPr>
        <p:txBody>
          <a:bodyPr wrap="square" lIns="0" tIns="0" rIns="0" bIns="0" rtlCol="0" anchor="t"/>
          <a:lstStyle/>
          <a:p>
            <a:pPr marL="0" indent="0">
              <a:buNone/>
            </a:pPr>
            <a:r>
              <a:rPr lang="en-US" sz="1700" b="1" dirty="0">
                <a:solidFill>
                  <a:schemeClr val="tx2"/>
                </a:solidFill>
              </a:rPr>
              <a:t>PyTorch too big for Lambda</a:t>
            </a:r>
            <a:endParaRPr lang="en-US" sz="1700" dirty="0"/>
          </a:p>
        </p:txBody>
      </p:sp>
      <p:sp>
        <p:nvSpPr>
          <p:cNvPr id="7" name="Text 4"/>
          <p:cNvSpPr txBox="1"/>
          <p:nvPr/>
        </p:nvSpPr>
        <p:spPr>
          <a:xfrm>
            <a:off x="1691640" y="1892808"/>
            <a:ext cx="4114800" cy="822960"/>
          </a:xfrm>
          <a:prstGeom prst="rect">
            <a:avLst/>
          </a:prstGeom>
          <a:noFill/>
          <a:ln/>
        </p:spPr>
        <p:txBody>
          <a:bodyPr wrap="square" lIns="0" tIns="0" rIns="0" bIns="0" rtlCol="0" anchor="t"/>
          <a:lstStyle/>
          <a:p>
            <a:pPr marL="0" indent="0">
              <a:buNone/>
            </a:pPr>
            <a:r>
              <a:rPr lang="en-US" sz="1400" dirty="0">
                <a:solidFill>
                  <a:schemeClr val="tx1"/>
                </a:solidFill>
              </a:rPr>
              <a:t>Container image from ECR, CPU-only PyTorch, headless OpenCV, all caches in /tmp.</a:t>
            </a:r>
            <a:endParaRPr lang="en-US" sz="1400" dirty="0"/>
          </a:p>
        </p:txBody>
      </p:sp>
      <p:sp>
        <p:nvSpPr>
          <p:cNvPr id="8" name="card"/>
          <p:cNvSpPr/>
          <p:nvPr/>
        </p:nvSpPr>
        <p:spPr>
          <a:xfrm>
            <a:off x="6172200" y="1325880"/>
            <a:ext cx="5440680" cy="1481328"/>
          </a:xfrm>
          <a:prstGeom prst="roundRect">
            <a:avLst>
              <a:gd name="adj" fmla="val 7407"/>
            </a:avLst>
          </a:prstGeom>
          <a:solidFill>
            <a:schemeClr val="bg2"/>
          </a:solidFill>
          <a:ln w="12700">
            <a:solidFill>
              <a:schemeClr val="bg2"/>
            </a:solidFill>
            <a:prstDash val="solid"/>
          </a:ln>
        </p:spPr>
        <p:txBody>
          <a:bodyPr/>
          <a:lstStyle/>
          <a:p>
            <a:endParaRPr lang="en-US"/>
          </a:p>
        </p:txBody>
      </p:sp>
      <p:sp>
        <p:nvSpPr>
          <p:cNvPr id="9" name="icon-circle"/>
          <p:cNvSpPr/>
          <p:nvPr/>
        </p:nvSpPr>
        <p:spPr>
          <a:xfrm>
            <a:off x="6400800" y="1709928"/>
            <a:ext cx="713232" cy="713232"/>
          </a:xfrm>
          <a:prstGeom prst="ellipse">
            <a:avLst/>
          </a:prstGeom>
          <a:solidFill>
            <a:schemeClr val="accent3"/>
          </a:solidFill>
          <a:ln w="12700">
            <a:solidFill>
              <a:schemeClr val="accent3"/>
            </a:solidFill>
            <a:prstDash val="solid"/>
          </a:ln>
        </p:spPr>
        <p:txBody>
          <a:bodyPr/>
          <a:lstStyle/>
          <a:p>
            <a:endParaRPr lang="en-US"/>
          </a:p>
        </p:txBody>
      </p:sp>
      <p:pic>
        <p:nvPicPr>
          <p:cNvPr id="10" name="icon" descr="preencoded.png"/>
          <p:cNvPicPr>
            <a:picLocks noChangeAspect="1"/>
          </p:cNvPicPr>
          <p:nvPr/>
        </p:nvPicPr>
        <p:blipFill>
          <a:blip r:embed="rId4"/>
          <a:stretch>
            <a:fillRect/>
          </a:stretch>
        </p:blipFill>
        <p:spPr>
          <a:xfrm>
            <a:off x="6571976" y="1881104"/>
            <a:ext cx="370881" cy="370881"/>
          </a:xfrm>
          <a:prstGeom prst="rect">
            <a:avLst/>
          </a:prstGeom>
        </p:spPr>
      </p:pic>
      <p:sp>
        <p:nvSpPr>
          <p:cNvPr id="11" name="Text 7"/>
          <p:cNvSpPr txBox="1"/>
          <p:nvPr/>
        </p:nvSpPr>
        <p:spPr>
          <a:xfrm>
            <a:off x="7315200" y="1508760"/>
            <a:ext cx="4114800" cy="365760"/>
          </a:xfrm>
          <a:prstGeom prst="rect">
            <a:avLst/>
          </a:prstGeom>
          <a:noFill/>
          <a:ln/>
        </p:spPr>
        <p:txBody>
          <a:bodyPr wrap="square" lIns="0" tIns="0" rIns="0" bIns="0" rtlCol="0" anchor="t"/>
          <a:lstStyle/>
          <a:p>
            <a:pPr marL="0" indent="0">
              <a:buNone/>
            </a:pPr>
            <a:r>
              <a:rPr lang="en-US" sz="1700" b="1" dirty="0">
                <a:solidFill>
                  <a:schemeClr val="tx2"/>
                </a:solidFill>
              </a:rPr>
              <a:t>EC2 role could not create the ECR repo</a:t>
            </a:r>
            <a:endParaRPr lang="en-US" sz="1700" dirty="0"/>
          </a:p>
        </p:txBody>
      </p:sp>
      <p:sp>
        <p:nvSpPr>
          <p:cNvPr id="12" name="Text 8"/>
          <p:cNvSpPr txBox="1"/>
          <p:nvPr/>
        </p:nvSpPr>
        <p:spPr>
          <a:xfrm>
            <a:off x="7315200" y="1892808"/>
            <a:ext cx="4114800" cy="822960"/>
          </a:xfrm>
          <a:prstGeom prst="rect">
            <a:avLst/>
          </a:prstGeom>
          <a:noFill/>
          <a:ln/>
        </p:spPr>
        <p:txBody>
          <a:bodyPr wrap="square" lIns="0" tIns="0" rIns="0" bIns="0" rtlCol="0" anchor="t"/>
          <a:lstStyle/>
          <a:p>
            <a:pPr marL="0" indent="0">
              <a:buNone/>
            </a:pPr>
            <a:r>
              <a:rPr lang="en-US" sz="1400" dirty="0">
                <a:solidFill>
                  <a:schemeClr val="tx1"/>
                </a:solidFill>
              </a:rPr>
              <a:t>I did not widen the role. Admin created the repo; EC2 kept push-only rights.</a:t>
            </a:r>
            <a:endParaRPr lang="en-US" sz="1400" dirty="0"/>
          </a:p>
        </p:txBody>
      </p:sp>
      <p:sp>
        <p:nvSpPr>
          <p:cNvPr id="13" name="card"/>
          <p:cNvSpPr/>
          <p:nvPr/>
        </p:nvSpPr>
        <p:spPr>
          <a:xfrm>
            <a:off x="548640" y="2990088"/>
            <a:ext cx="5440680" cy="1481328"/>
          </a:xfrm>
          <a:prstGeom prst="roundRect">
            <a:avLst>
              <a:gd name="adj" fmla="val 7407"/>
            </a:avLst>
          </a:prstGeom>
          <a:solidFill>
            <a:schemeClr val="bg2"/>
          </a:solidFill>
          <a:ln w="12700">
            <a:solidFill>
              <a:schemeClr val="bg2"/>
            </a:solidFill>
            <a:prstDash val="solid"/>
          </a:ln>
        </p:spPr>
        <p:txBody>
          <a:bodyPr/>
          <a:lstStyle/>
          <a:p>
            <a:endParaRPr lang="en-US"/>
          </a:p>
        </p:txBody>
      </p:sp>
      <p:sp>
        <p:nvSpPr>
          <p:cNvPr id="14" name="icon-circle"/>
          <p:cNvSpPr/>
          <p:nvPr/>
        </p:nvSpPr>
        <p:spPr>
          <a:xfrm>
            <a:off x="777240" y="3374136"/>
            <a:ext cx="713232" cy="713232"/>
          </a:xfrm>
          <a:prstGeom prst="ellipse">
            <a:avLst/>
          </a:prstGeom>
          <a:solidFill>
            <a:schemeClr val="accent6"/>
          </a:solidFill>
          <a:ln w="12700">
            <a:solidFill>
              <a:schemeClr val="accent6"/>
            </a:solidFill>
            <a:prstDash val="solid"/>
          </a:ln>
        </p:spPr>
        <p:txBody>
          <a:bodyPr/>
          <a:lstStyle/>
          <a:p>
            <a:endParaRPr lang="en-US"/>
          </a:p>
        </p:txBody>
      </p:sp>
      <p:pic>
        <p:nvPicPr>
          <p:cNvPr id="15" name="icon" descr="preencoded.png"/>
          <p:cNvPicPr>
            <a:picLocks noChangeAspect="1"/>
          </p:cNvPicPr>
          <p:nvPr/>
        </p:nvPicPr>
        <p:blipFill>
          <a:blip r:embed="rId5"/>
          <a:stretch>
            <a:fillRect/>
          </a:stretch>
        </p:blipFill>
        <p:spPr>
          <a:xfrm>
            <a:off x="948416" y="3545312"/>
            <a:ext cx="370881" cy="370881"/>
          </a:xfrm>
          <a:prstGeom prst="rect">
            <a:avLst/>
          </a:prstGeom>
        </p:spPr>
      </p:pic>
      <p:sp>
        <p:nvSpPr>
          <p:cNvPr id="16" name="Text 11"/>
          <p:cNvSpPr txBox="1"/>
          <p:nvPr/>
        </p:nvSpPr>
        <p:spPr>
          <a:xfrm>
            <a:off x="1691640" y="3172968"/>
            <a:ext cx="4114800" cy="365760"/>
          </a:xfrm>
          <a:prstGeom prst="rect">
            <a:avLst/>
          </a:prstGeom>
          <a:noFill/>
          <a:ln/>
        </p:spPr>
        <p:txBody>
          <a:bodyPr wrap="square" lIns="0" tIns="0" rIns="0" bIns="0" rtlCol="0" anchor="t"/>
          <a:lstStyle/>
          <a:p>
            <a:pPr marL="0" indent="0">
              <a:buNone/>
            </a:pPr>
            <a:r>
              <a:rPr lang="en-US" sz="1700" b="1" dirty="0">
                <a:solidFill>
                  <a:schemeClr val="tx2"/>
                </a:solidFill>
              </a:rPr>
              <a:t>504 on the first call after deploy</a:t>
            </a:r>
            <a:endParaRPr lang="en-US" sz="1700" dirty="0"/>
          </a:p>
        </p:txBody>
      </p:sp>
      <p:sp>
        <p:nvSpPr>
          <p:cNvPr id="17" name="Text 12"/>
          <p:cNvSpPr txBox="1"/>
          <p:nvPr/>
        </p:nvSpPr>
        <p:spPr>
          <a:xfrm>
            <a:off x="1691640" y="3557016"/>
            <a:ext cx="4114800" cy="822960"/>
          </a:xfrm>
          <a:prstGeom prst="rect">
            <a:avLst/>
          </a:prstGeom>
          <a:noFill/>
          <a:ln/>
        </p:spPr>
        <p:txBody>
          <a:bodyPr wrap="square" lIns="0" tIns="0" rIns="0" bIns="0" rtlCol="0" anchor="t"/>
          <a:lstStyle/>
          <a:p>
            <a:pPr marL="0" indent="0">
              <a:buNone/>
            </a:pPr>
            <a:r>
              <a:rPr lang="en-US" sz="1400" dirty="0">
                <a:solidFill>
                  <a:schemeClr val="tx1"/>
                </a:solidFill>
              </a:rPr>
              <a:t>Lambda needed 49.6 s to pull the new image. Fixed with a warm-up invoke in deploy.ps1.</a:t>
            </a:r>
            <a:endParaRPr lang="en-US" sz="1400" dirty="0"/>
          </a:p>
        </p:txBody>
      </p:sp>
      <p:sp>
        <p:nvSpPr>
          <p:cNvPr id="18" name="card"/>
          <p:cNvSpPr/>
          <p:nvPr/>
        </p:nvSpPr>
        <p:spPr>
          <a:xfrm>
            <a:off x="6172200" y="2990088"/>
            <a:ext cx="5440680" cy="1481328"/>
          </a:xfrm>
          <a:prstGeom prst="roundRect">
            <a:avLst>
              <a:gd name="adj" fmla="val 7407"/>
            </a:avLst>
          </a:prstGeom>
          <a:solidFill>
            <a:schemeClr val="bg2"/>
          </a:solidFill>
          <a:ln w="12700">
            <a:solidFill>
              <a:schemeClr val="bg2"/>
            </a:solidFill>
            <a:prstDash val="solid"/>
          </a:ln>
        </p:spPr>
        <p:txBody>
          <a:bodyPr/>
          <a:lstStyle/>
          <a:p>
            <a:endParaRPr lang="en-US"/>
          </a:p>
        </p:txBody>
      </p:sp>
      <p:sp>
        <p:nvSpPr>
          <p:cNvPr id="19" name="icon-circle"/>
          <p:cNvSpPr/>
          <p:nvPr/>
        </p:nvSpPr>
        <p:spPr>
          <a:xfrm>
            <a:off x="6400800" y="3374136"/>
            <a:ext cx="713232" cy="713232"/>
          </a:xfrm>
          <a:prstGeom prst="ellipse">
            <a:avLst/>
          </a:prstGeom>
          <a:solidFill>
            <a:schemeClr val="accent4"/>
          </a:solidFill>
          <a:ln w="12700">
            <a:solidFill>
              <a:schemeClr val="accent4"/>
            </a:solidFill>
            <a:prstDash val="solid"/>
          </a:ln>
        </p:spPr>
        <p:txBody>
          <a:bodyPr/>
          <a:lstStyle/>
          <a:p>
            <a:endParaRPr lang="en-US"/>
          </a:p>
        </p:txBody>
      </p:sp>
      <p:pic>
        <p:nvPicPr>
          <p:cNvPr id="20" name="icon" descr="preencoded.png"/>
          <p:cNvPicPr>
            <a:picLocks noChangeAspect="1"/>
          </p:cNvPicPr>
          <p:nvPr/>
        </p:nvPicPr>
        <p:blipFill>
          <a:blip r:embed="rId6"/>
          <a:stretch>
            <a:fillRect/>
          </a:stretch>
        </p:blipFill>
        <p:spPr>
          <a:xfrm>
            <a:off x="6571976" y="3545312"/>
            <a:ext cx="370881" cy="370881"/>
          </a:xfrm>
          <a:prstGeom prst="rect">
            <a:avLst/>
          </a:prstGeom>
        </p:spPr>
      </p:pic>
      <p:sp>
        <p:nvSpPr>
          <p:cNvPr id="21" name="Text 15"/>
          <p:cNvSpPr txBox="1"/>
          <p:nvPr/>
        </p:nvSpPr>
        <p:spPr>
          <a:xfrm>
            <a:off x="7315200" y="3172968"/>
            <a:ext cx="4114800" cy="365760"/>
          </a:xfrm>
          <a:prstGeom prst="rect">
            <a:avLst/>
          </a:prstGeom>
          <a:noFill/>
          <a:ln/>
        </p:spPr>
        <p:txBody>
          <a:bodyPr wrap="square" lIns="0" tIns="0" rIns="0" bIns="0" rtlCol="0" anchor="t"/>
          <a:lstStyle/>
          <a:p>
            <a:pPr marL="0" indent="0">
              <a:buNone/>
            </a:pPr>
            <a:r>
              <a:rPr lang="en-US" sz="1700" b="1" dirty="0">
                <a:solidFill>
                  <a:schemeClr val="tx2"/>
                </a:solidFill>
              </a:rPr>
              <a:t>API returned 500 instead of 429</a:t>
            </a:r>
            <a:endParaRPr lang="en-US" sz="1700" dirty="0"/>
          </a:p>
        </p:txBody>
      </p:sp>
      <p:sp>
        <p:nvSpPr>
          <p:cNvPr id="22" name="Text 16"/>
          <p:cNvSpPr txBox="1"/>
          <p:nvPr/>
        </p:nvSpPr>
        <p:spPr>
          <a:xfrm>
            <a:off x="7315200" y="3557016"/>
            <a:ext cx="4114800" cy="822960"/>
          </a:xfrm>
          <a:prstGeom prst="rect">
            <a:avLst/>
          </a:prstGeom>
          <a:noFill/>
          <a:ln/>
        </p:spPr>
        <p:txBody>
          <a:bodyPr wrap="square" lIns="0" tIns="0" rIns="0" bIns="0" rtlCol="0" anchor="t"/>
          <a:lstStyle/>
          <a:p>
            <a:pPr marL="0" indent="0">
              <a:buNone/>
            </a:pPr>
            <a:r>
              <a:rPr lang="en-US" sz="1400" dirty="0">
                <a:solidFill>
                  <a:schemeClr val="tx1"/>
                </a:solidFill>
              </a:rPr>
              <a:t>Found the concurrency limit in the Lambda Throttles metric; added retries and a quota request.</a:t>
            </a:r>
            <a:endParaRPr lang="en-US" sz="1400" dirty="0"/>
          </a:p>
        </p:txBody>
      </p:sp>
      <p:sp>
        <p:nvSpPr>
          <p:cNvPr id="23" name="card"/>
          <p:cNvSpPr/>
          <p:nvPr/>
        </p:nvSpPr>
        <p:spPr>
          <a:xfrm>
            <a:off x="548640" y="4654296"/>
            <a:ext cx="5440680" cy="1481328"/>
          </a:xfrm>
          <a:prstGeom prst="roundRect">
            <a:avLst>
              <a:gd name="adj" fmla="val 7407"/>
            </a:avLst>
          </a:prstGeom>
          <a:solidFill>
            <a:schemeClr val="bg2"/>
          </a:solidFill>
          <a:ln w="12700">
            <a:solidFill>
              <a:schemeClr val="bg2"/>
            </a:solidFill>
            <a:prstDash val="solid"/>
          </a:ln>
        </p:spPr>
        <p:txBody>
          <a:bodyPr/>
          <a:lstStyle/>
          <a:p>
            <a:endParaRPr lang="en-US"/>
          </a:p>
        </p:txBody>
      </p:sp>
      <p:sp>
        <p:nvSpPr>
          <p:cNvPr id="24" name="icon-circle"/>
          <p:cNvSpPr/>
          <p:nvPr/>
        </p:nvSpPr>
        <p:spPr>
          <a:xfrm>
            <a:off x="777240" y="5038344"/>
            <a:ext cx="713232" cy="713232"/>
          </a:xfrm>
          <a:prstGeom prst="ellipse">
            <a:avLst/>
          </a:prstGeom>
          <a:solidFill>
            <a:schemeClr val="accent2"/>
          </a:solidFill>
          <a:ln w="12700">
            <a:solidFill>
              <a:schemeClr val="accent2"/>
            </a:solidFill>
            <a:prstDash val="solid"/>
          </a:ln>
        </p:spPr>
        <p:txBody>
          <a:bodyPr/>
          <a:lstStyle/>
          <a:p>
            <a:endParaRPr lang="en-US"/>
          </a:p>
        </p:txBody>
      </p:sp>
      <p:pic>
        <p:nvPicPr>
          <p:cNvPr id="25" name="icon" descr="preencoded.png"/>
          <p:cNvPicPr>
            <a:picLocks noChangeAspect="1"/>
          </p:cNvPicPr>
          <p:nvPr/>
        </p:nvPicPr>
        <p:blipFill>
          <a:blip r:embed="rId7"/>
          <a:stretch>
            <a:fillRect/>
          </a:stretch>
        </p:blipFill>
        <p:spPr>
          <a:xfrm>
            <a:off x="948416" y="5209520"/>
            <a:ext cx="370881" cy="370881"/>
          </a:xfrm>
          <a:prstGeom prst="rect">
            <a:avLst/>
          </a:prstGeom>
        </p:spPr>
      </p:pic>
      <p:sp>
        <p:nvSpPr>
          <p:cNvPr id="26" name="Text 19"/>
          <p:cNvSpPr txBox="1"/>
          <p:nvPr/>
        </p:nvSpPr>
        <p:spPr>
          <a:xfrm>
            <a:off x="1691640" y="4837176"/>
            <a:ext cx="4114800" cy="365760"/>
          </a:xfrm>
          <a:prstGeom prst="rect">
            <a:avLst/>
          </a:prstGeom>
          <a:noFill/>
          <a:ln/>
        </p:spPr>
        <p:txBody>
          <a:bodyPr wrap="square" lIns="0" tIns="0" rIns="0" bIns="0" rtlCol="0" anchor="t"/>
          <a:lstStyle/>
          <a:p>
            <a:pPr marL="0" indent="0">
              <a:buNone/>
            </a:pPr>
            <a:r>
              <a:rPr lang="en-US" sz="1700" b="1" dirty="0">
                <a:solidFill>
                  <a:schemeClr val="tx2"/>
                </a:solidFill>
              </a:rPr>
              <a:t>Free plan blocked t3.large</a:t>
            </a:r>
            <a:endParaRPr lang="en-US" sz="1700" dirty="0"/>
          </a:p>
        </p:txBody>
      </p:sp>
      <p:sp>
        <p:nvSpPr>
          <p:cNvPr id="27" name="Text 20"/>
          <p:cNvSpPr txBox="1"/>
          <p:nvPr/>
        </p:nvSpPr>
        <p:spPr>
          <a:xfrm>
            <a:off x="1691640" y="5221224"/>
            <a:ext cx="4114800" cy="822960"/>
          </a:xfrm>
          <a:prstGeom prst="rect">
            <a:avLst/>
          </a:prstGeom>
          <a:noFill/>
          <a:ln/>
        </p:spPr>
        <p:txBody>
          <a:bodyPr wrap="square" lIns="0" tIns="0" rIns="0" bIns="0" rtlCol="0" anchor="t"/>
          <a:lstStyle/>
          <a:p>
            <a:pPr marL="0" indent="0">
              <a:buNone/>
            </a:pPr>
            <a:r>
              <a:rPr lang="en-US" sz="1400" dirty="0">
                <a:solidFill>
                  <a:schemeClr val="tx1"/>
                </a:solidFill>
              </a:rPr>
              <a:t>Used m7i-flex.large: free-tier eligible with the same 8 GB RAM.</a:t>
            </a:r>
            <a:endParaRPr lang="en-US" sz="1400" dirty="0"/>
          </a:p>
        </p:txBody>
      </p:sp>
      <p:sp>
        <p:nvSpPr>
          <p:cNvPr id="28" name="card"/>
          <p:cNvSpPr/>
          <p:nvPr/>
        </p:nvSpPr>
        <p:spPr>
          <a:xfrm>
            <a:off x="6172200" y="4654296"/>
            <a:ext cx="5440680" cy="1481328"/>
          </a:xfrm>
          <a:prstGeom prst="roundRect">
            <a:avLst>
              <a:gd name="adj" fmla="val 7407"/>
            </a:avLst>
          </a:prstGeom>
          <a:solidFill>
            <a:schemeClr val="bg2"/>
          </a:solidFill>
          <a:ln w="12700">
            <a:solidFill>
              <a:schemeClr val="bg2"/>
            </a:solidFill>
            <a:prstDash val="solid"/>
          </a:ln>
        </p:spPr>
        <p:txBody>
          <a:bodyPr/>
          <a:lstStyle/>
          <a:p>
            <a:endParaRPr lang="en-US"/>
          </a:p>
        </p:txBody>
      </p:sp>
      <p:sp>
        <p:nvSpPr>
          <p:cNvPr id="29" name="icon-circle"/>
          <p:cNvSpPr/>
          <p:nvPr/>
        </p:nvSpPr>
        <p:spPr>
          <a:xfrm>
            <a:off x="6400800" y="5038344"/>
            <a:ext cx="713232" cy="713232"/>
          </a:xfrm>
          <a:prstGeom prst="ellipse">
            <a:avLst/>
          </a:prstGeom>
          <a:solidFill>
            <a:schemeClr val="accent5"/>
          </a:solidFill>
          <a:ln w="12700">
            <a:solidFill>
              <a:schemeClr val="accent5"/>
            </a:solidFill>
            <a:prstDash val="solid"/>
          </a:ln>
        </p:spPr>
        <p:txBody>
          <a:bodyPr/>
          <a:lstStyle/>
          <a:p>
            <a:endParaRPr lang="en-US"/>
          </a:p>
        </p:txBody>
      </p:sp>
      <p:pic>
        <p:nvPicPr>
          <p:cNvPr id="30" name="icon" descr="preencoded.png"/>
          <p:cNvPicPr>
            <a:picLocks noChangeAspect="1"/>
          </p:cNvPicPr>
          <p:nvPr/>
        </p:nvPicPr>
        <p:blipFill>
          <a:blip r:embed="rId8"/>
          <a:stretch>
            <a:fillRect/>
          </a:stretch>
        </p:blipFill>
        <p:spPr>
          <a:xfrm>
            <a:off x="6571976" y="5209520"/>
            <a:ext cx="370881" cy="370881"/>
          </a:xfrm>
          <a:prstGeom prst="rect">
            <a:avLst/>
          </a:prstGeom>
        </p:spPr>
      </p:pic>
      <p:sp>
        <p:nvSpPr>
          <p:cNvPr id="31" name="Text 23"/>
          <p:cNvSpPr txBox="1"/>
          <p:nvPr/>
        </p:nvSpPr>
        <p:spPr>
          <a:xfrm>
            <a:off x="7315200" y="4837176"/>
            <a:ext cx="4114800" cy="365760"/>
          </a:xfrm>
          <a:prstGeom prst="rect">
            <a:avLst/>
          </a:prstGeom>
          <a:noFill/>
          <a:ln/>
        </p:spPr>
        <p:txBody>
          <a:bodyPr wrap="square" lIns="0" tIns="0" rIns="0" bIns="0" rtlCol="0" anchor="t"/>
          <a:lstStyle/>
          <a:p>
            <a:pPr marL="0" indent="0">
              <a:buNone/>
            </a:pPr>
            <a:r>
              <a:rPr lang="en-US" sz="1700" b="1" dirty="0">
                <a:solidFill>
                  <a:schemeClr val="tx2"/>
                </a:solidFill>
              </a:rPr>
              <a:t>DNS error when testing the API</a:t>
            </a:r>
            <a:endParaRPr lang="en-US" sz="1700" dirty="0"/>
          </a:p>
        </p:txBody>
      </p:sp>
      <p:sp>
        <p:nvSpPr>
          <p:cNvPr id="32" name="Text 24"/>
          <p:cNvSpPr txBox="1"/>
          <p:nvPr/>
        </p:nvSpPr>
        <p:spPr>
          <a:xfrm>
            <a:off x="7315200" y="5221224"/>
            <a:ext cx="4114800" cy="822960"/>
          </a:xfrm>
          <a:prstGeom prst="rect">
            <a:avLst/>
          </a:prstGeom>
          <a:noFill/>
          <a:ln/>
        </p:spPr>
        <p:txBody>
          <a:bodyPr wrap="square" lIns="0" tIns="0" rIns="0" bIns="0" rtlCol="0" anchor="t"/>
          <a:lstStyle/>
          <a:p>
            <a:pPr marL="0" indent="0">
              <a:buNone/>
            </a:pPr>
            <a:r>
              <a:rPr lang="en-US" sz="1400" dirty="0">
                <a:solidFill>
                  <a:schemeClr val="tx1"/>
                </a:solidFill>
              </a:rPr>
              <a:t>I had used the API key id in the URL. Read the real API id with the CLI.</a:t>
            </a:r>
            <a:endParaRPr lang="en-US" sz="1400" dirty="0"/>
          </a:p>
        </p:txBody>
      </p:sp>
      <p:sp>
        <p:nvSpPr>
          <p:cNvPr id="33"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46831"/>
    </mc:Choice>
    <mc:Fallback xmlns="">
      <p:transition spd="slow" advTm="4683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Reproducible: the whole stack from one template</a:t>
            </a:r>
            <a:endParaRPr lang="en-US" sz="3200" dirty="0"/>
          </a:p>
        </p:txBody>
      </p:sp>
      <p:pic>
        <p:nvPicPr>
          <p:cNvPr id="3" name="7-1-cfn-deploy.png" descr="deploy.ps1 output"/>
          <p:cNvPicPr>
            <a:picLocks noChangeAspect="1"/>
          </p:cNvPicPr>
          <p:nvPr/>
        </p:nvPicPr>
        <p:blipFill>
          <a:blip r:embed="rId3"/>
          <a:stretch>
            <a:fillRect/>
          </a:stretch>
        </p:blipFill>
        <p:spPr>
          <a:xfrm>
            <a:off x="548640" y="1342913"/>
            <a:ext cx="6766560" cy="2251934"/>
          </a:xfrm>
          <a:prstGeom prst="rect">
            <a:avLst/>
          </a:prstGeom>
          <a:effectLst>
            <a:outerShdw blurRad="76200" dist="25400" dir="5400000" algn="bl" rotWithShape="0">
              <a:srgbClr val="000000">
                <a:alpha val="18000"/>
              </a:srgbClr>
            </a:outerShdw>
          </a:effectLst>
        </p:spPr>
      </p:pic>
      <p:pic>
        <p:nvPicPr>
          <p:cNvPr id="4" name="7-2-github.png" descr="GitHub repository"/>
          <p:cNvPicPr>
            <a:picLocks noChangeAspect="1"/>
          </p:cNvPicPr>
          <p:nvPr/>
        </p:nvPicPr>
        <p:blipFill>
          <a:blip r:embed="rId4"/>
          <a:stretch>
            <a:fillRect/>
          </a:stretch>
        </p:blipFill>
        <p:spPr>
          <a:xfrm>
            <a:off x="1932582" y="3840480"/>
            <a:ext cx="3998677" cy="2468880"/>
          </a:xfrm>
          <a:prstGeom prst="rect">
            <a:avLst/>
          </a:prstGeom>
          <a:effectLst>
            <a:outerShdw blurRad="76200" dist="25400" dir="5400000" algn="bl" rotWithShape="0">
              <a:srgbClr val="000000">
                <a:alpha val="18000"/>
              </a:srgbClr>
            </a:outerShdw>
          </a:effectLst>
        </p:spPr>
      </p:pic>
      <p:sp>
        <p:nvSpPr>
          <p:cNvPr id="5" name="card"/>
          <p:cNvSpPr/>
          <p:nvPr/>
        </p:nvSpPr>
        <p:spPr>
          <a:xfrm>
            <a:off x="7635240" y="1280160"/>
            <a:ext cx="3977640" cy="5029200"/>
          </a:xfrm>
          <a:prstGeom prst="roundRect">
            <a:avLst>
              <a:gd name="adj" fmla="val 2759"/>
            </a:avLst>
          </a:prstGeom>
          <a:solidFill>
            <a:schemeClr val="bg2"/>
          </a:solidFill>
          <a:ln w="12700">
            <a:solidFill>
              <a:schemeClr val="bg2"/>
            </a:solidFill>
            <a:prstDash val="solid"/>
          </a:ln>
        </p:spPr>
        <p:txBody>
          <a:bodyPr/>
          <a:lstStyle/>
          <a:p>
            <a:endParaRPr lang="en-US"/>
          </a:p>
        </p:txBody>
      </p:sp>
      <p:sp>
        <p:nvSpPr>
          <p:cNvPr id="6" name="Text 2"/>
          <p:cNvSpPr txBox="1"/>
          <p:nvPr/>
        </p:nvSpPr>
        <p:spPr>
          <a:xfrm>
            <a:off x="7909560" y="1463040"/>
            <a:ext cx="3474720" cy="868680"/>
          </a:xfrm>
          <a:prstGeom prst="rect">
            <a:avLst/>
          </a:prstGeom>
          <a:noFill/>
          <a:ln/>
        </p:spPr>
        <p:txBody>
          <a:bodyPr wrap="square" lIns="0" tIns="0" rIns="0" bIns="0" rtlCol="0" anchor="t"/>
          <a:lstStyle/>
          <a:p>
            <a:pPr marL="0" indent="0">
              <a:buNone/>
            </a:pPr>
            <a:r>
              <a:rPr lang="en-US" sz="4800" b="1" dirty="0">
                <a:solidFill>
                  <a:schemeClr val="accent1"/>
                </a:solidFill>
                <a:latin typeface="Calibri" pitchFamily="34" charset="0"/>
                <a:ea typeface="Calibri" pitchFamily="34" charset="-122"/>
                <a:cs typeface="Calibri" pitchFamily="34" charset="-120"/>
              </a:rPr>
              <a:t>21</a:t>
            </a:r>
            <a:endParaRPr lang="en-US" sz="4800" dirty="0"/>
          </a:p>
        </p:txBody>
      </p:sp>
      <p:sp>
        <p:nvSpPr>
          <p:cNvPr id="7" name="Text 3"/>
          <p:cNvSpPr txBox="1"/>
          <p:nvPr/>
        </p:nvSpPr>
        <p:spPr>
          <a:xfrm>
            <a:off x="7909560" y="2331720"/>
            <a:ext cx="3474720" cy="548640"/>
          </a:xfrm>
          <a:prstGeom prst="rect">
            <a:avLst/>
          </a:prstGeom>
          <a:noFill/>
          <a:ln/>
        </p:spPr>
        <p:txBody>
          <a:bodyPr wrap="square" lIns="0" tIns="0" rIns="0" bIns="0" rtlCol="0" anchor="t"/>
          <a:lstStyle/>
          <a:p>
            <a:pPr marL="0" indent="0">
              <a:buNone/>
            </a:pPr>
            <a:r>
              <a:rPr lang="en-US" sz="1400" dirty="0">
                <a:solidFill>
                  <a:schemeClr val="accent5"/>
                </a:solidFill>
              </a:rPr>
              <a:t>AWS resources created by template.yaml</a:t>
            </a:r>
            <a:endParaRPr lang="en-US" sz="1400" dirty="0"/>
          </a:p>
        </p:txBody>
      </p:sp>
      <p:sp>
        <p:nvSpPr>
          <p:cNvPr id="8" name="Text 4"/>
          <p:cNvSpPr txBox="1"/>
          <p:nvPr/>
        </p:nvSpPr>
        <p:spPr>
          <a:xfrm>
            <a:off x="7909560" y="2926080"/>
            <a:ext cx="3474720" cy="868680"/>
          </a:xfrm>
          <a:prstGeom prst="rect">
            <a:avLst/>
          </a:prstGeom>
          <a:noFill/>
          <a:ln/>
        </p:spPr>
        <p:txBody>
          <a:bodyPr wrap="square" lIns="0" tIns="0" rIns="0" bIns="0" rtlCol="0" anchor="t"/>
          <a:lstStyle/>
          <a:p>
            <a:pPr marL="0" indent="0">
              <a:buNone/>
            </a:pPr>
            <a:r>
              <a:rPr lang="en-US" sz="4800" b="1" dirty="0">
                <a:solidFill>
                  <a:schemeClr val="accent2"/>
                </a:solidFill>
                <a:latin typeface="Calibri" pitchFamily="34" charset="0"/>
                <a:ea typeface="Calibri" pitchFamily="34" charset="-122"/>
                <a:cs typeface="Calibri" pitchFamily="34" charset="-120"/>
              </a:rPr>
              <a:t>8 / 8</a:t>
            </a:r>
            <a:endParaRPr lang="en-US" sz="4800" dirty="0"/>
          </a:p>
        </p:txBody>
      </p:sp>
      <p:sp>
        <p:nvSpPr>
          <p:cNvPr id="9" name="Text 5"/>
          <p:cNvSpPr txBox="1"/>
          <p:nvPr/>
        </p:nvSpPr>
        <p:spPr>
          <a:xfrm>
            <a:off x="7909560" y="3794760"/>
            <a:ext cx="3474720" cy="548640"/>
          </a:xfrm>
          <a:prstGeom prst="rect">
            <a:avLst/>
          </a:prstGeom>
          <a:noFill/>
          <a:ln/>
        </p:spPr>
        <p:txBody>
          <a:bodyPr wrap="square" lIns="0" tIns="0" rIns="0" bIns="0" rtlCol="0" anchor="t"/>
          <a:lstStyle/>
          <a:p>
            <a:pPr marL="0" indent="0">
              <a:buNone/>
            </a:pPr>
            <a:r>
              <a:rPr lang="en-US" sz="1400" dirty="0">
                <a:solidFill>
                  <a:schemeClr val="accent5"/>
                </a:solidFill>
              </a:rPr>
              <a:t>functional tests passed on the new copy</a:t>
            </a:r>
            <a:endParaRPr lang="en-US" sz="1400" dirty="0"/>
          </a:p>
        </p:txBody>
      </p:sp>
      <p:sp>
        <p:nvSpPr>
          <p:cNvPr id="10" name="Text 6"/>
          <p:cNvSpPr txBox="1"/>
          <p:nvPr/>
        </p:nvSpPr>
        <p:spPr>
          <a:xfrm>
            <a:off x="7909560" y="4389120"/>
            <a:ext cx="3474720" cy="18288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1"/>
                </a:solidFill>
              </a:rPr>
              <a:t>deploy.ps1: deploy, upload images, warm up, test</a:t>
            </a:r>
            <a:endParaRPr lang="en-US" sz="1350" dirty="0"/>
          </a:p>
          <a:p>
            <a:pPr marL="342900" indent="-342900">
              <a:spcAft>
                <a:spcPts val="600"/>
              </a:spcAft>
              <a:buSzPct val="100000"/>
              <a:buChar char="•"/>
            </a:pPr>
            <a:r>
              <a:rPr lang="en-US" sz="1350" dirty="0">
                <a:solidFill>
                  <a:schemeClr val="tx1"/>
                </a:solidFill>
              </a:rPr>
              <a:t>destroy.ps1: empty buckets and delete the stack</a:t>
            </a:r>
            <a:endParaRPr lang="en-US" sz="1350" dirty="0"/>
          </a:p>
          <a:p>
            <a:pPr marL="342900" indent="-342900">
              <a:spcAft>
                <a:spcPts val="600"/>
              </a:spcAft>
              <a:buSzPct val="100000"/>
              <a:buChar char="•"/>
            </a:pPr>
            <a:r>
              <a:rPr lang="en-US" sz="1350" dirty="0">
                <a:solidFill>
                  <a:schemeClr val="tx1"/>
                </a:solidFill>
              </a:rPr>
              <a:t>Template also fixes one broad IAM permission (PutObject only on results/ and annotated/)</a:t>
            </a:r>
            <a:endParaRPr lang="en-US" sz="135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advTm="40922"/>
    </mc:Choice>
    <mc:Fallback xmlns="">
      <p:transition spd="slow" advTm="40922"/>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28800"/>
            <a:ext cx="7498080" cy="1737360"/>
          </a:xfrm>
          <a:prstGeom prst="rect">
            <a:avLst/>
          </a:prstGeom>
          <a:noFill/>
          <a:ln/>
        </p:spPr>
        <p:txBody>
          <a:bodyPr wrap="square" lIns="0" tIns="0" rIns="0" bIns="0" rtlCol="0" anchor="t"/>
          <a:lstStyle/>
          <a:p>
            <a:pPr marL="0" indent="0" algn="l">
              <a:buNone/>
            </a:pPr>
            <a:r>
              <a:rPr lang="en-US" sz="4000" b="1" dirty="0">
                <a:solidFill>
                  <a:schemeClr val="bg1"/>
                </a:solidFill>
              </a:rPr>
              <a:t>Conclusion</a:t>
            </a:r>
            <a:endParaRPr lang="en-US" sz="4000" dirty="0"/>
          </a:p>
        </p:txBody>
      </p:sp>
      <p:sp>
        <p:nvSpPr>
          <p:cNvPr id="3" name="Text 0"/>
          <p:cNvSpPr>
            <a:spLocks noGrp="1"/>
          </p:cNvSpPr>
          <p:nvPr>
            <p:ph type="body" idx="101" hasCustomPrompt="1"/>
          </p:nvPr>
        </p:nvSpPr>
        <p:spPr>
          <a:xfrm>
            <a:off x="640080" y="3703320"/>
            <a:ext cx="7498080" cy="822960"/>
          </a:xfrm>
          <a:prstGeom prst="rect">
            <a:avLst/>
          </a:prstGeom>
          <a:noFill/>
          <a:ln/>
        </p:spPr>
        <p:txBody>
          <a:bodyPr wrap="square" lIns="0" tIns="0" rIns="0" bIns="0" rtlCol="0" anchor="t"/>
          <a:lstStyle/>
          <a:p>
            <a:pPr marL="0" indent="0" algn="l">
              <a:buNone/>
            </a:pPr>
            <a:r>
              <a:rPr lang="en-US" sz="2000" dirty="0">
                <a:solidFill>
                  <a:srgbClr val="FFB066"/>
                </a:solidFill>
              </a:rPr>
              <a:t>Measure first, then optimise</a:t>
            </a:r>
            <a:endParaRPr lang="en-US" sz="2000" dirty="0"/>
          </a:p>
        </p:txBody>
      </p:sp>
      <p:sp>
        <p:nvSpPr>
          <p:cNvPr id="4" name="card"/>
          <p:cNvSpPr/>
          <p:nvPr/>
        </p:nvSpPr>
        <p:spPr>
          <a:xfrm>
            <a:off x="640080" y="4434840"/>
            <a:ext cx="3520440" cy="1691640"/>
          </a:xfrm>
          <a:prstGeom prst="roundRect">
            <a:avLst>
              <a:gd name="adj" fmla="val 6486"/>
            </a:avLst>
          </a:prstGeom>
          <a:solidFill>
            <a:srgbClr val="2E3B4E"/>
          </a:solidFill>
          <a:ln w="12700">
            <a:solidFill>
              <a:srgbClr val="2E3B4E"/>
            </a:solidFill>
            <a:prstDash val="solid"/>
          </a:ln>
        </p:spPr>
        <p:txBody>
          <a:bodyPr/>
          <a:lstStyle/>
          <a:p>
            <a:endParaRPr lang="en-US"/>
          </a:p>
        </p:txBody>
      </p:sp>
      <p:sp>
        <p:nvSpPr>
          <p:cNvPr id="5" name="Text 3"/>
          <p:cNvSpPr txBox="1"/>
          <p:nvPr/>
        </p:nvSpPr>
        <p:spPr>
          <a:xfrm>
            <a:off x="868680" y="4590288"/>
            <a:ext cx="3063240" cy="365760"/>
          </a:xfrm>
          <a:prstGeom prst="rect">
            <a:avLst/>
          </a:prstGeom>
          <a:noFill/>
          <a:ln/>
        </p:spPr>
        <p:txBody>
          <a:bodyPr wrap="square" lIns="0" tIns="0" rIns="0" bIns="0" rtlCol="0" anchor="t"/>
          <a:lstStyle/>
          <a:p>
            <a:pPr marL="0" indent="0">
              <a:buNone/>
            </a:pPr>
            <a:r>
              <a:rPr lang="en-US" sz="1700" b="1" dirty="0">
                <a:solidFill>
                  <a:srgbClr val="FFB066"/>
                </a:solidFill>
              </a:rPr>
              <a:t>Working system</a:t>
            </a:r>
            <a:endParaRPr lang="en-US" sz="1700" dirty="0"/>
          </a:p>
        </p:txBody>
      </p:sp>
      <p:sp>
        <p:nvSpPr>
          <p:cNvPr id="6" name="Text 4"/>
          <p:cNvSpPr txBox="1"/>
          <p:nvPr/>
        </p:nvSpPr>
        <p:spPr>
          <a:xfrm>
            <a:off x="868680" y="4983480"/>
            <a:ext cx="3063240" cy="1097280"/>
          </a:xfrm>
          <a:prstGeom prst="rect">
            <a:avLst/>
          </a:prstGeom>
          <a:noFill/>
          <a:ln/>
        </p:spPr>
        <p:txBody>
          <a:bodyPr wrap="square" lIns="0" tIns="0" rIns="0" bIns="0" rtlCol="0" anchor="t"/>
          <a:lstStyle/>
          <a:p>
            <a:pPr marL="0" indent="0">
              <a:buNone/>
            </a:pPr>
            <a:r>
              <a:rPr lang="en-US" sz="1400" dirty="0">
                <a:solidFill>
                  <a:schemeClr val="bg1"/>
                </a:solidFill>
              </a:rPr>
              <a:t>YOLOv5 in Lambda behind a secured REST API, results in S3 and DynamoDB, 0.4 s warm</a:t>
            </a:r>
            <a:endParaRPr lang="en-US" sz="1400" dirty="0"/>
          </a:p>
        </p:txBody>
      </p:sp>
      <p:sp>
        <p:nvSpPr>
          <p:cNvPr id="7" name="card"/>
          <p:cNvSpPr/>
          <p:nvPr/>
        </p:nvSpPr>
        <p:spPr>
          <a:xfrm>
            <a:off x="4389120" y="4434840"/>
            <a:ext cx="3520440" cy="1691640"/>
          </a:xfrm>
          <a:prstGeom prst="roundRect">
            <a:avLst>
              <a:gd name="adj" fmla="val 6486"/>
            </a:avLst>
          </a:prstGeom>
          <a:solidFill>
            <a:srgbClr val="2E3B4E"/>
          </a:solidFill>
          <a:ln w="12700">
            <a:solidFill>
              <a:srgbClr val="2E3B4E"/>
            </a:solidFill>
            <a:prstDash val="solid"/>
          </a:ln>
        </p:spPr>
        <p:txBody>
          <a:bodyPr/>
          <a:lstStyle/>
          <a:p>
            <a:endParaRPr lang="en-US"/>
          </a:p>
        </p:txBody>
      </p:sp>
      <p:sp>
        <p:nvSpPr>
          <p:cNvPr id="8" name="Text 6"/>
          <p:cNvSpPr txBox="1"/>
          <p:nvPr/>
        </p:nvSpPr>
        <p:spPr>
          <a:xfrm>
            <a:off x="4617720" y="4590288"/>
            <a:ext cx="3063240" cy="365760"/>
          </a:xfrm>
          <a:prstGeom prst="rect">
            <a:avLst/>
          </a:prstGeom>
          <a:noFill/>
          <a:ln/>
        </p:spPr>
        <p:txBody>
          <a:bodyPr wrap="square" lIns="0" tIns="0" rIns="0" bIns="0" rtlCol="0" anchor="t"/>
          <a:lstStyle/>
          <a:p>
            <a:pPr marL="0" indent="0">
              <a:buNone/>
            </a:pPr>
            <a:r>
              <a:rPr lang="en-US" sz="1700" b="1" dirty="0">
                <a:solidFill>
                  <a:srgbClr val="FFB066"/>
                </a:solidFill>
              </a:rPr>
              <a:t>What I learned</a:t>
            </a:r>
            <a:endParaRPr lang="en-US" sz="1700" dirty="0"/>
          </a:p>
        </p:txBody>
      </p:sp>
      <p:sp>
        <p:nvSpPr>
          <p:cNvPr id="9" name="Text 7"/>
          <p:cNvSpPr txBox="1"/>
          <p:nvPr/>
        </p:nvSpPr>
        <p:spPr>
          <a:xfrm>
            <a:off x="4617720" y="4983480"/>
            <a:ext cx="3063240" cy="1097280"/>
          </a:xfrm>
          <a:prstGeom prst="rect">
            <a:avLst/>
          </a:prstGeom>
          <a:noFill/>
          <a:ln/>
        </p:spPr>
        <p:txBody>
          <a:bodyPr wrap="square" lIns="0" tIns="0" rIns="0" bIns="0" rtlCol="0" anchor="t"/>
          <a:lstStyle/>
          <a:p>
            <a:pPr marL="0" indent="0">
              <a:buNone/>
            </a:pPr>
            <a:r>
              <a:rPr lang="en-US" sz="1400" dirty="0">
                <a:solidFill>
                  <a:schemeClr val="bg1"/>
                </a:solidFill>
              </a:rPr>
              <a:t>My optimisation idea was wrong, the data showed the real causes: image caching and an account limit</a:t>
            </a:r>
            <a:endParaRPr lang="en-US" sz="1400" dirty="0"/>
          </a:p>
        </p:txBody>
      </p:sp>
      <p:sp>
        <p:nvSpPr>
          <p:cNvPr id="10" name="card"/>
          <p:cNvSpPr/>
          <p:nvPr/>
        </p:nvSpPr>
        <p:spPr>
          <a:xfrm>
            <a:off x="8138160" y="4434840"/>
            <a:ext cx="3520440" cy="1691640"/>
          </a:xfrm>
          <a:prstGeom prst="roundRect">
            <a:avLst>
              <a:gd name="adj" fmla="val 6486"/>
            </a:avLst>
          </a:prstGeom>
          <a:solidFill>
            <a:srgbClr val="2E3B4E"/>
          </a:solidFill>
          <a:ln w="12700">
            <a:solidFill>
              <a:srgbClr val="2E3B4E"/>
            </a:solidFill>
            <a:prstDash val="solid"/>
          </a:ln>
        </p:spPr>
        <p:txBody>
          <a:bodyPr/>
          <a:lstStyle/>
          <a:p>
            <a:endParaRPr lang="en-US"/>
          </a:p>
        </p:txBody>
      </p:sp>
      <p:sp>
        <p:nvSpPr>
          <p:cNvPr id="11" name="Text 9"/>
          <p:cNvSpPr txBox="1"/>
          <p:nvPr/>
        </p:nvSpPr>
        <p:spPr>
          <a:xfrm>
            <a:off x="8366760" y="4590288"/>
            <a:ext cx="3063240" cy="365760"/>
          </a:xfrm>
          <a:prstGeom prst="rect">
            <a:avLst/>
          </a:prstGeom>
          <a:noFill/>
          <a:ln/>
        </p:spPr>
        <p:txBody>
          <a:bodyPr wrap="square" lIns="0" tIns="0" rIns="0" bIns="0" rtlCol="0" anchor="t"/>
          <a:lstStyle/>
          <a:p>
            <a:pPr marL="0" indent="0">
              <a:buNone/>
            </a:pPr>
            <a:r>
              <a:rPr lang="en-US" sz="1700" b="1" dirty="0">
                <a:solidFill>
                  <a:srgbClr val="FFB066"/>
                </a:solidFill>
              </a:rPr>
              <a:t>Next steps</a:t>
            </a:r>
            <a:endParaRPr lang="en-US" sz="1700" dirty="0"/>
          </a:p>
        </p:txBody>
      </p:sp>
      <p:sp>
        <p:nvSpPr>
          <p:cNvPr id="12" name="Text 10"/>
          <p:cNvSpPr txBox="1"/>
          <p:nvPr/>
        </p:nvSpPr>
        <p:spPr>
          <a:xfrm>
            <a:off x="8366760" y="4983480"/>
            <a:ext cx="3063240" cy="1097280"/>
          </a:xfrm>
          <a:prstGeom prst="rect">
            <a:avLst/>
          </a:prstGeom>
          <a:noFill/>
          <a:ln/>
        </p:spPr>
        <p:txBody>
          <a:bodyPr wrap="square" lIns="0" tIns="0" rIns="0" bIns="0" rtlCol="0" anchor="t"/>
          <a:lstStyle/>
          <a:p>
            <a:pPr marL="0" indent="0">
              <a:buNone/>
            </a:pPr>
            <a:r>
              <a:rPr lang="en-US" sz="1400" dirty="0">
                <a:solidFill>
                  <a:schemeClr val="bg1"/>
                </a:solidFill>
              </a:rPr>
              <a:t>Scheduled warm-up, SQS queue for bursts, upload page with pre-signed URLs, higher concurrency</a:t>
            </a:r>
            <a:endParaRPr lang="en-US" sz="1400" dirty="0"/>
          </a:p>
        </p:txBody>
      </p:sp>
      <p:pic>
        <p:nvPicPr>
          <p:cNvPr id="13" name="2-5-annotated.png" descr="YOLOv5 detection on EC2"/>
          <p:cNvPicPr>
            <a:picLocks noChangeAspect="1"/>
          </p:cNvPicPr>
          <p:nvPr/>
        </p:nvPicPr>
        <p:blipFill>
          <a:blip r:embed="rId3"/>
          <a:stretch>
            <a:fillRect/>
          </a:stretch>
        </p:blipFill>
        <p:spPr>
          <a:xfrm>
            <a:off x="8595360" y="1213792"/>
            <a:ext cx="3017520" cy="2052975"/>
          </a:xfrm>
          <a:prstGeom prst="rect">
            <a:avLst/>
          </a:prstGeom>
          <a:effectLst>
            <a:outerShdw blurRad="76200" dist="25400" dir="5400000" algn="bl" rotWithShape="0">
              <a:srgbClr val="000000">
                <a:alpha val="18000"/>
              </a:srgbClr>
            </a:outerShdw>
          </a:effectLst>
        </p:spPr>
      </p:pic>
      <p:sp>
        <p:nvSpPr>
          <p:cNvPr id="14" name="Text 11"/>
          <p:cNvSpPr txBox="1"/>
          <p:nvPr/>
        </p:nvSpPr>
        <p:spPr>
          <a:xfrm>
            <a:off x="640080" y="6309360"/>
            <a:ext cx="10972800" cy="320040"/>
          </a:xfrm>
          <a:prstGeom prst="rect">
            <a:avLst/>
          </a:prstGeom>
          <a:noFill/>
          <a:ln/>
        </p:spPr>
        <p:txBody>
          <a:bodyPr wrap="square" lIns="0" tIns="0" rIns="0" bIns="0" rtlCol="0" anchor="t"/>
          <a:lstStyle/>
          <a:p>
            <a:pPr marL="0" indent="0">
              <a:buNone/>
            </a:pPr>
            <a:r>
              <a:rPr lang="en-US" sz="1300" dirty="0">
                <a:solidFill>
                  <a:srgbClr val="C9D1DB"/>
                </a:solidFill>
              </a:rPr>
              <a:t>Thank you  |  github.com/CyrusNamjoo/ict5205-yolov5-aws-serverless</a:t>
            </a:r>
            <a:endParaRPr lang="en-US" sz="1300" dirty="0"/>
          </a:p>
        </p:txBody>
      </p:sp>
    </p:spTree>
  </p:cSld>
  <p:clrMapOvr>
    <a:masterClrMapping/>
  </p:clrMapOvr>
  <mc:AlternateContent xmlns:mc="http://schemas.openxmlformats.org/markup-compatibility/2006" xmlns:p14="http://schemas.microsoft.com/office/powerpoint/2010/main">
    <mc:Choice Requires="p14">
      <p:transition spd="slow" p14:dur="2000" advTm="43302"/>
    </mc:Choice>
    <mc:Fallback xmlns="">
      <p:transition spd="slow" advTm="43302"/>
    </mc:Fallback>
  </mc:AlternateContent>
</p:sld>
</file>

<file path=ppt/theme/theme1.xml><?xml version="1.0" encoding="utf-8"?>
<a:theme xmlns:a="http://schemas.openxmlformats.org/drawingml/2006/main" name="YOLO on AWS">
  <a:themeElements>
    <a:clrScheme name="YOLO on AWS">
      <a:dk1>
        <a:srgbClr val="1F2937"/>
      </a:dk1>
      <a:lt1>
        <a:srgbClr val="FFFFFF"/>
      </a:lt1>
      <a:dk2>
        <a:srgbClr val="232F3E"/>
      </a:dk2>
      <a:lt2>
        <a:srgbClr val="F3F4F6"/>
      </a:lt2>
      <a:accent1>
        <a:srgbClr val="E8710A"/>
      </a:accent1>
      <a:accent2>
        <a:srgbClr val="2E7D32"/>
      </a:accent2>
      <a:accent3>
        <a:srgbClr val="7B2FBF"/>
      </a:accent3>
      <a:accent4>
        <a:srgbClr val="1565C0"/>
      </a:accent4>
      <a:accent5>
        <a:srgbClr val="6B7280"/>
      </a:accent5>
      <a:accent6>
        <a:srgbClr val="C62828"/>
      </a:accent6>
      <a:hlink>
        <a:srgbClr val="1565C0"/>
      </a:hlink>
      <a:folHlink>
        <a:srgbClr val="7B2FBF"/>
      </a:folHlink>
    </a:clrScheme>
    <a:fontScheme name="YOLO on AW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1147</Words>
  <Application>Microsoft Office PowerPoint</Application>
  <PresentationFormat>Widescreen</PresentationFormat>
  <Paragraphs>149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YOLO on AWS</vt:lpstr>
      <vt:lpstr>Image Object Identification on AWS with YOLOv5</vt:lpstr>
      <vt:lpstr>What I wanted to build and why it is not easy</vt:lpstr>
      <vt:lpstr>Architecture: three layers, one clear request path</vt:lpstr>
      <vt:lpstr>How I built it, step by step</vt:lpstr>
      <vt:lpstr>Output: the pipeline works end to end</vt:lpstr>
      <vt:lpstr>Security and functional tests: 8 out of 8 passed</vt:lpstr>
      <vt:lpstr>Cold starts: what I measured and what surprised me</vt:lpstr>
      <vt:lpstr>Memory tuning: more memory was almost free</vt:lpstr>
      <vt:lpstr>Scaling: the real bottleneck was an account limit</vt:lpstr>
      <vt:lpstr>Challenges and how I solved them</vt:lpstr>
      <vt:lpstr>Reproducible: the whole stack from one template</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ICT5205 Assessment 2 - YOLOv5 object identification on AWS</dc:title>
  <dc:subject>PptxGenJS Presentation</dc:subject>
  <dc:creator>Sirous Namjoo</dc:creator>
  <cp:lastModifiedBy>Sirous NAMJOO</cp:lastModifiedBy>
  <cp:revision>3</cp:revision>
  <dcterms:created xsi:type="dcterms:W3CDTF">2026-10-08T01:46:36Z</dcterms:created>
  <dcterms:modified xsi:type="dcterms:W3CDTF">2026-10-08T04:24:18Z</dcterms:modified>
</cp:coreProperties>
</file>